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8288000" cy="10287000"/>
  <p:notesSz cx="6858000" cy="9144000"/>
  <p:embeddedFontLst>
    <p:embeddedFont>
      <p:font typeface="Handyman" charset="1" panose="00000000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69331" y="1317693"/>
            <a:ext cx="14949339" cy="2138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948"/>
              </a:lnSpc>
              <a:spcBef>
                <a:spcPct val="0"/>
              </a:spcBef>
            </a:pPr>
            <a:r>
              <a:rPr lang="en-US" sz="11391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Apresentação do projeto: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802452" y="5143500"/>
            <a:ext cx="14683097" cy="3813238"/>
            <a:chOff x="0" y="0"/>
            <a:chExt cx="3867150" cy="10043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67150" cy="1004316"/>
            </a:xfrm>
            <a:custGeom>
              <a:avLst/>
              <a:gdLst/>
              <a:ahLst/>
              <a:cxnLst/>
              <a:rect r="r" b="b" t="t" l="l"/>
              <a:pathLst>
                <a:path h="1004316" w="3867150">
                  <a:moveTo>
                    <a:pt x="3867150" y="502158"/>
                  </a:moveTo>
                  <a:lnTo>
                    <a:pt x="3867150" y="502158"/>
                  </a:lnTo>
                  <a:cubicBezTo>
                    <a:pt x="3867150" y="779492"/>
                    <a:pt x="3642326" y="1004316"/>
                    <a:pt x="3364992" y="1004316"/>
                  </a:cubicBezTo>
                  <a:lnTo>
                    <a:pt x="502158" y="1004316"/>
                  </a:lnTo>
                  <a:cubicBezTo>
                    <a:pt x="224824" y="1004316"/>
                    <a:pt x="0" y="779492"/>
                    <a:pt x="0" y="502158"/>
                  </a:cubicBezTo>
                  <a:lnTo>
                    <a:pt x="0" y="502158"/>
                  </a:lnTo>
                  <a:cubicBezTo>
                    <a:pt x="0" y="224824"/>
                    <a:pt x="224824" y="0"/>
                    <a:pt x="502158" y="0"/>
                  </a:cubicBezTo>
                  <a:lnTo>
                    <a:pt x="3364992" y="0"/>
                  </a:lnTo>
                  <a:cubicBezTo>
                    <a:pt x="3642326" y="0"/>
                    <a:pt x="3867150" y="224824"/>
                    <a:pt x="3867150" y="502158"/>
                  </a:cubicBezTo>
                  <a:close/>
                </a:path>
              </a:pathLst>
            </a:custGeom>
            <a:solidFill>
              <a:srgbClr val="FFC9C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67150" cy="1042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400938" y="5622001"/>
            <a:ext cx="2856237" cy="2856237"/>
          </a:xfrm>
          <a:custGeom>
            <a:avLst/>
            <a:gdLst/>
            <a:ahLst/>
            <a:cxnLst/>
            <a:rect r="r" b="b" t="t" l="l"/>
            <a:pathLst>
              <a:path h="2856237" w="2856237">
                <a:moveTo>
                  <a:pt x="0" y="0"/>
                </a:moveTo>
                <a:lnTo>
                  <a:pt x="2856237" y="0"/>
                </a:lnTo>
                <a:lnTo>
                  <a:pt x="2856237" y="2856237"/>
                </a:lnTo>
                <a:lnTo>
                  <a:pt x="0" y="28562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943977" y="5829105"/>
            <a:ext cx="9598564" cy="202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046"/>
              </a:lnSpc>
              <a:spcBef>
                <a:spcPct val="0"/>
              </a:spcBef>
            </a:pPr>
            <a:r>
              <a:rPr lang="en-US" sz="10747">
                <a:solidFill>
                  <a:srgbClr val="F88888"/>
                </a:solidFill>
                <a:latin typeface="Handyman"/>
                <a:ea typeface="Handyman"/>
                <a:cs typeface="Handyman"/>
                <a:sym typeface="Handyman"/>
              </a:rPr>
              <a:t>Mulher Amparada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449" y="669078"/>
            <a:ext cx="2412630" cy="1326234"/>
            <a:chOff x="0" y="0"/>
            <a:chExt cx="2454071" cy="1349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071" cy="1349024"/>
            </a:xfrm>
            <a:custGeom>
              <a:avLst/>
              <a:gdLst/>
              <a:ahLst/>
              <a:cxnLst/>
              <a:rect r="r" b="b" t="t" l="l"/>
              <a:pathLst>
                <a:path h="1349024" w="2454071">
                  <a:moveTo>
                    <a:pt x="2454071" y="674512"/>
                  </a:moveTo>
                  <a:lnTo>
                    <a:pt x="2454071" y="674512"/>
                  </a:lnTo>
                  <a:cubicBezTo>
                    <a:pt x="2454071" y="1047035"/>
                    <a:pt x="2152081" y="1349024"/>
                    <a:pt x="1779559" y="1349024"/>
                  </a:cubicBezTo>
                  <a:lnTo>
                    <a:pt x="674512" y="1349024"/>
                  </a:lnTo>
                  <a:cubicBezTo>
                    <a:pt x="301989" y="1349024"/>
                    <a:pt x="0" y="1047035"/>
                    <a:pt x="0" y="674512"/>
                  </a:cubicBezTo>
                  <a:lnTo>
                    <a:pt x="0" y="674512"/>
                  </a:lnTo>
                  <a:cubicBezTo>
                    <a:pt x="0" y="301989"/>
                    <a:pt x="301989" y="0"/>
                    <a:pt x="674512" y="0"/>
                  </a:cubicBezTo>
                  <a:lnTo>
                    <a:pt x="1779559" y="0"/>
                  </a:lnTo>
                  <a:cubicBezTo>
                    <a:pt x="1958450" y="0"/>
                    <a:pt x="2130015" y="71064"/>
                    <a:pt x="2256511" y="197560"/>
                  </a:cubicBezTo>
                  <a:cubicBezTo>
                    <a:pt x="2383006" y="324056"/>
                    <a:pt x="2454071" y="495620"/>
                    <a:pt x="2454071" y="674512"/>
                  </a:cubicBezTo>
                  <a:close/>
                </a:path>
              </a:pathLst>
            </a:custGeom>
            <a:solidFill>
              <a:srgbClr val="FFC9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4071" cy="1387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916" y="881046"/>
            <a:ext cx="902299" cy="902299"/>
          </a:xfrm>
          <a:custGeom>
            <a:avLst/>
            <a:gdLst/>
            <a:ahLst/>
            <a:cxnLst/>
            <a:rect r="r" b="b" t="t" l="l"/>
            <a:pathLst>
              <a:path h="902299" w="902299">
                <a:moveTo>
                  <a:pt x="0" y="0"/>
                </a:moveTo>
                <a:lnTo>
                  <a:pt x="902299" y="0"/>
                </a:lnTo>
                <a:lnTo>
                  <a:pt x="902299" y="902299"/>
                </a:lnTo>
                <a:lnTo>
                  <a:pt x="0" y="90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3964" y="759317"/>
            <a:ext cx="476717" cy="94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6"/>
              </a:lnSpc>
              <a:spcBef>
                <a:spcPct val="0"/>
              </a:spcBef>
            </a:pPr>
            <a:r>
              <a:rPr lang="en-US" sz="4997">
                <a:solidFill>
                  <a:srgbClr val="F88888"/>
                </a:solidFill>
                <a:latin typeface="Handyman"/>
                <a:ea typeface="Handyman"/>
                <a:cs typeface="Handyman"/>
                <a:sym typeface="Handyman"/>
              </a:rPr>
              <a:t>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8945" y="704850"/>
            <a:ext cx="9670110" cy="29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49"/>
              </a:lnSpc>
              <a:spcBef>
                <a:spcPct val="0"/>
              </a:spcBef>
            </a:pPr>
            <a:r>
              <a:rPr lang="en-US" sz="82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Quem é o público-alvo do projeto?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92215" y="4306816"/>
            <a:ext cx="14903569" cy="4518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83"/>
              </a:lnSpc>
              <a:spcBef>
                <a:spcPct val="0"/>
              </a:spcBef>
            </a:pPr>
            <a:r>
              <a:rPr lang="en-US" sz="6345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Mulheres em situação de violência e/ou vulnerabilidade, principalmente violência doméstica, patrimonial, física, psicológica e entre outras.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449" y="669078"/>
            <a:ext cx="2412630" cy="1326234"/>
            <a:chOff x="0" y="0"/>
            <a:chExt cx="2454071" cy="1349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071" cy="1349024"/>
            </a:xfrm>
            <a:custGeom>
              <a:avLst/>
              <a:gdLst/>
              <a:ahLst/>
              <a:cxnLst/>
              <a:rect r="r" b="b" t="t" l="l"/>
              <a:pathLst>
                <a:path h="1349024" w="2454071">
                  <a:moveTo>
                    <a:pt x="2454071" y="674512"/>
                  </a:moveTo>
                  <a:lnTo>
                    <a:pt x="2454071" y="674512"/>
                  </a:lnTo>
                  <a:cubicBezTo>
                    <a:pt x="2454071" y="1047035"/>
                    <a:pt x="2152081" y="1349024"/>
                    <a:pt x="1779559" y="1349024"/>
                  </a:cubicBezTo>
                  <a:lnTo>
                    <a:pt x="674512" y="1349024"/>
                  </a:lnTo>
                  <a:cubicBezTo>
                    <a:pt x="301989" y="1349024"/>
                    <a:pt x="0" y="1047035"/>
                    <a:pt x="0" y="674512"/>
                  </a:cubicBezTo>
                  <a:lnTo>
                    <a:pt x="0" y="674512"/>
                  </a:lnTo>
                  <a:cubicBezTo>
                    <a:pt x="0" y="301989"/>
                    <a:pt x="301989" y="0"/>
                    <a:pt x="674512" y="0"/>
                  </a:cubicBezTo>
                  <a:lnTo>
                    <a:pt x="1779559" y="0"/>
                  </a:lnTo>
                  <a:cubicBezTo>
                    <a:pt x="1958450" y="0"/>
                    <a:pt x="2130015" y="71064"/>
                    <a:pt x="2256511" y="197560"/>
                  </a:cubicBezTo>
                  <a:cubicBezTo>
                    <a:pt x="2383006" y="324056"/>
                    <a:pt x="2454071" y="495620"/>
                    <a:pt x="2454071" y="674512"/>
                  </a:cubicBezTo>
                  <a:close/>
                </a:path>
              </a:pathLst>
            </a:custGeom>
            <a:solidFill>
              <a:srgbClr val="FFC9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4071" cy="1387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916" y="881046"/>
            <a:ext cx="902299" cy="902299"/>
          </a:xfrm>
          <a:custGeom>
            <a:avLst/>
            <a:gdLst/>
            <a:ahLst/>
            <a:cxnLst/>
            <a:rect r="r" b="b" t="t" l="l"/>
            <a:pathLst>
              <a:path h="902299" w="902299">
                <a:moveTo>
                  <a:pt x="0" y="0"/>
                </a:moveTo>
                <a:lnTo>
                  <a:pt x="902299" y="0"/>
                </a:lnTo>
                <a:lnTo>
                  <a:pt x="902299" y="902299"/>
                </a:lnTo>
                <a:lnTo>
                  <a:pt x="0" y="90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3964" y="759317"/>
            <a:ext cx="476717" cy="94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6"/>
              </a:lnSpc>
              <a:spcBef>
                <a:spcPct val="0"/>
              </a:spcBef>
            </a:pPr>
            <a:r>
              <a:rPr lang="en-US" sz="4997">
                <a:solidFill>
                  <a:srgbClr val="F88888"/>
                </a:solidFill>
                <a:latin typeface="Handyman"/>
                <a:ea typeface="Handyman"/>
                <a:cs typeface="Handyman"/>
                <a:sym typeface="Handyman"/>
              </a:rPr>
              <a:t>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8945" y="704850"/>
            <a:ext cx="9670110" cy="29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49"/>
              </a:lnSpc>
              <a:spcBef>
                <a:spcPct val="0"/>
              </a:spcBef>
            </a:pPr>
            <a:r>
              <a:rPr lang="en-US" sz="82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Qual é o foco do aplicativo?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92215" y="4306816"/>
            <a:ext cx="14903569" cy="3410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83"/>
              </a:lnSpc>
              <a:spcBef>
                <a:spcPct val="0"/>
              </a:spcBef>
            </a:pPr>
            <a:r>
              <a:rPr lang="en-US" sz="6345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Oferecer ajuda rápida em situações que exigem rápidez, e encaminhar a vítima para os canais de atendimento oficiais.</a:t>
            </a:r>
          </a:p>
        </p:txBody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449" y="669078"/>
            <a:ext cx="2412630" cy="1326234"/>
            <a:chOff x="0" y="0"/>
            <a:chExt cx="2454071" cy="1349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071" cy="1349024"/>
            </a:xfrm>
            <a:custGeom>
              <a:avLst/>
              <a:gdLst/>
              <a:ahLst/>
              <a:cxnLst/>
              <a:rect r="r" b="b" t="t" l="l"/>
              <a:pathLst>
                <a:path h="1349024" w="2454071">
                  <a:moveTo>
                    <a:pt x="2454071" y="674512"/>
                  </a:moveTo>
                  <a:lnTo>
                    <a:pt x="2454071" y="674512"/>
                  </a:lnTo>
                  <a:cubicBezTo>
                    <a:pt x="2454071" y="1047035"/>
                    <a:pt x="2152081" y="1349024"/>
                    <a:pt x="1779559" y="1349024"/>
                  </a:cubicBezTo>
                  <a:lnTo>
                    <a:pt x="674512" y="1349024"/>
                  </a:lnTo>
                  <a:cubicBezTo>
                    <a:pt x="301989" y="1349024"/>
                    <a:pt x="0" y="1047035"/>
                    <a:pt x="0" y="674512"/>
                  </a:cubicBezTo>
                  <a:lnTo>
                    <a:pt x="0" y="674512"/>
                  </a:lnTo>
                  <a:cubicBezTo>
                    <a:pt x="0" y="301989"/>
                    <a:pt x="301989" y="0"/>
                    <a:pt x="674512" y="0"/>
                  </a:cubicBezTo>
                  <a:lnTo>
                    <a:pt x="1779559" y="0"/>
                  </a:lnTo>
                  <a:cubicBezTo>
                    <a:pt x="1958450" y="0"/>
                    <a:pt x="2130015" y="71064"/>
                    <a:pt x="2256511" y="197560"/>
                  </a:cubicBezTo>
                  <a:cubicBezTo>
                    <a:pt x="2383006" y="324056"/>
                    <a:pt x="2454071" y="495620"/>
                    <a:pt x="2454071" y="674512"/>
                  </a:cubicBezTo>
                  <a:close/>
                </a:path>
              </a:pathLst>
            </a:custGeom>
            <a:solidFill>
              <a:srgbClr val="FFC9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4071" cy="1387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916" y="881046"/>
            <a:ext cx="902299" cy="902299"/>
          </a:xfrm>
          <a:custGeom>
            <a:avLst/>
            <a:gdLst/>
            <a:ahLst/>
            <a:cxnLst/>
            <a:rect r="r" b="b" t="t" l="l"/>
            <a:pathLst>
              <a:path h="902299" w="902299">
                <a:moveTo>
                  <a:pt x="0" y="0"/>
                </a:moveTo>
                <a:lnTo>
                  <a:pt x="902299" y="0"/>
                </a:lnTo>
                <a:lnTo>
                  <a:pt x="902299" y="902299"/>
                </a:lnTo>
                <a:lnTo>
                  <a:pt x="0" y="90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3964" y="759317"/>
            <a:ext cx="476717" cy="94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6"/>
              </a:lnSpc>
              <a:spcBef>
                <a:spcPct val="0"/>
              </a:spcBef>
            </a:pPr>
            <a:r>
              <a:rPr lang="en-US" sz="4997">
                <a:solidFill>
                  <a:srgbClr val="F88888"/>
                </a:solidFill>
                <a:latin typeface="Handyman"/>
                <a:ea typeface="Handyman"/>
                <a:cs typeface="Handyman"/>
                <a:sym typeface="Handyman"/>
              </a:rPr>
              <a:t>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8945" y="704850"/>
            <a:ext cx="9670110" cy="29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49"/>
              </a:lnSpc>
              <a:spcBef>
                <a:spcPct val="0"/>
              </a:spcBef>
            </a:pPr>
            <a:r>
              <a:rPr lang="en-US" sz="82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Quais são as permissões do app?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42182" y="4968569"/>
            <a:ext cx="10403637" cy="4289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69"/>
              </a:lnSpc>
            </a:pPr>
            <a:r>
              <a:rPr lang="en-US" sz="4835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Contatos, microfone, sms, telefone, acesso a todos os arquivos e localização </a:t>
            </a:r>
          </a:p>
          <a:p>
            <a:pPr algn="ctr" marL="0" indent="0" lvl="0">
              <a:lnSpc>
                <a:spcPts val="6769"/>
              </a:lnSpc>
              <a:spcBef>
                <a:spcPct val="0"/>
              </a:spcBef>
            </a:pPr>
            <a:r>
              <a:rPr lang="en-US" sz="4835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E o app não quebra ao negar essas permissões, EXCETO NA FUNÇÃO DE PROTEÇÃO POR PALMAS!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449" y="669078"/>
            <a:ext cx="2412630" cy="1326234"/>
            <a:chOff x="0" y="0"/>
            <a:chExt cx="2454071" cy="1349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071" cy="1349024"/>
            </a:xfrm>
            <a:custGeom>
              <a:avLst/>
              <a:gdLst/>
              <a:ahLst/>
              <a:cxnLst/>
              <a:rect r="r" b="b" t="t" l="l"/>
              <a:pathLst>
                <a:path h="1349024" w="2454071">
                  <a:moveTo>
                    <a:pt x="2454071" y="674512"/>
                  </a:moveTo>
                  <a:lnTo>
                    <a:pt x="2454071" y="674512"/>
                  </a:lnTo>
                  <a:cubicBezTo>
                    <a:pt x="2454071" y="1047035"/>
                    <a:pt x="2152081" y="1349024"/>
                    <a:pt x="1779559" y="1349024"/>
                  </a:cubicBezTo>
                  <a:lnTo>
                    <a:pt x="674512" y="1349024"/>
                  </a:lnTo>
                  <a:cubicBezTo>
                    <a:pt x="301989" y="1349024"/>
                    <a:pt x="0" y="1047035"/>
                    <a:pt x="0" y="674512"/>
                  </a:cubicBezTo>
                  <a:lnTo>
                    <a:pt x="0" y="674512"/>
                  </a:lnTo>
                  <a:cubicBezTo>
                    <a:pt x="0" y="301989"/>
                    <a:pt x="301989" y="0"/>
                    <a:pt x="674512" y="0"/>
                  </a:cubicBezTo>
                  <a:lnTo>
                    <a:pt x="1779559" y="0"/>
                  </a:lnTo>
                  <a:cubicBezTo>
                    <a:pt x="1958450" y="0"/>
                    <a:pt x="2130015" y="71064"/>
                    <a:pt x="2256511" y="197560"/>
                  </a:cubicBezTo>
                  <a:cubicBezTo>
                    <a:pt x="2383006" y="324056"/>
                    <a:pt x="2454071" y="495620"/>
                    <a:pt x="2454071" y="674512"/>
                  </a:cubicBezTo>
                  <a:close/>
                </a:path>
              </a:pathLst>
            </a:custGeom>
            <a:solidFill>
              <a:srgbClr val="FFC9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4071" cy="1387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916" y="881046"/>
            <a:ext cx="902299" cy="902299"/>
          </a:xfrm>
          <a:custGeom>
            <a:avLst/>
            <a:gdLst/>
            <a:ahLst/>
            <a:cxnLst/>
            <a:rect r="r" b="b" t="t" l="l"/>
            <a:pathLst>
              <a:path h="902299" w="902299">
                <a:moveTo>
                  <a:pt x="0" y="0"/>
                </a:moveTo>
                <a:lnTo>
                  <a:pt x="902299" y="0"/>
                </a:lnTo>
                <a:lnTo>
                  <a:pt x="902299" y="902299"/>
                </a:lnTo>
                <a:lnTo>
                  <a:pt x="0" y="90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3964" y="759317"/>
            <a:ext cx="476717" cy="94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6"/>
              </a:lnSpc>
              <a:spcBef>
                <a:spcPct val="0"/>
              </a:spcBef>
            </a:pPr>
            <a:r>
              <a:rPr lang="en-US" sz="4997">
                <a:solidFill>
                  <a:srgbClr val="F88888"/>
                </a:solidFill>
                <a:latin typeface="Handyman"/>
                <a:ea typeface="Handyman"/>
                <a:cs typeface="Handyman"/>
                <a:sym typeface="Handyman"/>
              </a:rPr>
              <a:t>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8945" y="704850"/>
            <a:ext cx="9670110" cy="1554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49"/>
              </a:lnSpc>
              <a:spcBef>
                <a:spcPct val="0"/>
              </a:spcBef>
            </a:pPr>
            <a:r>
              <a:rPr lang="en-US" sz="82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Saibam que: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85078" y="3829749"/>
            <a:ext cx="12490940" cy="3856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55"/>
              </a:lnSpc>
              <a:spcBef>
                <a:spcPct val="0"/>
              </a:spcBef>
            </a:pPr>
            <a:r>
              <a:rPr lang="en-US" sz="7182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O 180, central de atendimento a mulher, tem um número de WhatsApp, e até e-mail!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449" y="669078"/>
            <a:ext cx="2412630" cy="1326234"/>
            <a:chOff x="0" y="0"/>
            <a:chExt cx="2454071" cy="1349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071" cy="1349024"/>
            </a:xfrm>
            <a:custGeom>
              <a:avLst/>
              <a:gdLst/>
              <a:ahLst/>
              <a:cxnLst/>
              <a:rect r="r" b="b" t="t" l="l"/>
              <a:pathLst>
                <a:path h="1349024" w="2454071">
                  <a:moveTo>
                    <a:pt x="2454071" y="674512"/>
                  </a:moveTo>
                  <a:lnTo>
                    <a:pt x="2454071" y="674512"/>
                  </a:lnTo>
                  <a:cubicBezTo>
                    <a:pt x="2454071" y="1047035"/>
                    <a:pt x="2152081" y="1349024"/>
                    <a:pt x="1779559" y="1349024"/>
                  </a:cubicBezTo>
                  <a:lnTo>
                    <a:pt x="674512" y="1349024"/>
                  </a:lnTo>
                  <a:cubicBezTo>
                    <a:pt x="301989" y="1349024"/>
                    <a:pt x="0" y="1047035"/>
                    <a:pt x="0" y="674512"/>
                  </a:cubicBezTo>
                  <a:lnTo>
                    <a:pt x="0" y="674512"/>
                  </a:lnTo>
                  <a:cubicBezTo>
                    <a:pt x="0" y="301989"/>
                    <a:pt x="301989" y="0"/>
                    <a:pt x="674512" y="0"/>
                  </a:cubicBezTo>
                  <a:lnTo>
                    <a:pt x="1779559" y="0"/>
                  </a:lnTo>
                  <a:cubicBezTo>
                    <a:pt x="1958450" y="0"/>
                    <a:pt x="2130015" y="71064"/>
                    <a:pt x="2256511" y="197560"/>
                  </a:cubicBezTo>
                  <a:cubicBezTo>
                    <a:pt x="2383006" y="324056"/>
                    <a:pt x="2454071" y="495620"/>
                    <a:pt x="2454071" y="674512"/>
                  </a:cubicBezTo>
                  <a:close/>
                </a:path>
              </a:pathLst>
            </a:custGeom>
            <a:solidFill>
              <a:srgbClr val="FFC9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4071" cy="1387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916" y="881046"/>
            <a:ext cx="902299" cy="902299"/>
          </a:xfrm>
          <a:custGeom>
            <a:avLst/>
            <a:gdLst/>
            <a:ahLst/>
            <a:cxnLst/>
            <a:rect r="r" b="b" t="t" l="l"/>
            <a:pathLst>
              <a:path h="902299" w="902299">
                <a:moveTo>
                  <a:pt x="0" y="0"/>
                </a:moveTo>
                <a:lnTo>
                  <a:pt x="902299" y="0"/>
                </a:lnTo>
                <a:lnTo>
                  <a:pt x="902299" y="902299"/>
                </a:lnTo>
                <a:lnTo>
                  <a:pt x="0" y="90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3964" y="759317"/>
            <a:ext cx="476717" cy="94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6"/>
              </a:lnSpc>
              <a:spcBef>
                <a:spcPct val="0"/>
              </a:spcBef>
            </a:pPr>
            <a:r>
              <a:rPr lang="en-US" sz="4997">
                <a:solidFill>
                  <a:srgbClr val="F88888"/>
                </a:solidFill>
                <a:latin typeface="Handyman"/>
                <a:ea typeface="Handyman"/>
                <a:cs typeface="Handyman"/>
                <a:sym typeface="Handyman"/>
              </a:rPr>
              <a:t>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8945" y="704850"/>
            <a:ext cx="9670110" cy="29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49"/>
              </a:lnSpc>
              <a:spcBef>
                <a:spcPct val="0"/>
              </a:spcBef>
            </a:pPr>
            <a:r>
              <a:rPr lang="en-US" sz="82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Quais são as funções do app?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92215" y="5451321"/>
            <a:ext cx="14680579" cy="3806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16"/>
              </a:lnSpc>
              <a:spcBef>
                <a:spcPct val="0"/>
              </a:spcBef>
            </a:pPr>
            <a:r>
              <a:rPr lang="en-US" sz="7083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Botão de Pânico: clique nesee Botão e ele telefona automaticamente pro 180 em um simples toque!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449" y="669078"/>
            <a:ext cx="2412630" cy="1326234"/>
            <a:chOff x="0" y="0"/>
            <a:chExt cx="2454071" cy="1349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071" cy="1349024"/>
            </a:xfrm>
            <a:custGeom>
              <a:avLst/>
              <a:gdLst/>
              <a:ahLst/>
              <a:cxnLst/>
              <a:rect r="r" b="b" t="t" l="l"/>
              <a:pathLst>
                <a:path h="1349024" w="2454071">
                  <a:moveTo>
                    <a:pt x="2454071" y="674512"/>
                  </a:moveTo>
                  <a:lnTo>
                    <a:pt x="2454071" y="674512"/>
                  </a:lnTo>
                  <a:cubicBezTo>
                    <a:pt x="2454071" y="1047035"/>
                    <a:pt x="2152081" y="1349024"/>
                    <a:pt x="1779559" y="1349024"/>
                  </a:cubicBezTo>
                  <a:lnTo>
                    <a:pt x="674512" y="1349024"/>
                  </a:lnTo>
                  <a:cubicBezTo>
                    <a:pt x="301989" y="1349024"/>
                    <a:pt x="0" y="1047035"/>
                    <a:pt x="0" y="674512"/>
                  </a:cubicBezTo>
                  <a:lnTo>
                    <a:pt x="0" y="674512"/>
                  </a:lnTo>
                  <a:cubicBezTo>
                    <a:pt x="0" y="301989"/>
                    <a:pt x="301989" y="0"/>
                    <a:pt x="674512" y="0"/>
                  </a:cubicBezTo>
                  <a:lnTo>
                    <a:pt x="1779559" y="0"/>
                  </a:lnTo>
                  <a:cubicBezTo>
                    <a:pt x="1958450" y="0"/>
                    <a:pt x="2130015" y="71064"/>
                    <a:pt x="2256511" y="197560"/>
                  </a:cubicBezTo>
                  <a:cubicBezTo>
                    <a:pt x="2383006" y="324056"/>
                    <a:pt x="2454071" y="495620"/>
                    <a:pt x="2454071" y="674512"/>
                  </a:cubicBezTo>
                  <a:close/>
                </a:path>
              </a:pathLst>
            </a:custGeom>
            <a:solidFill>
              <a:srgbClr val="FFC9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4071" cy="1387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916" y="881046"/>
            <a:ext cx="902299" cy="902299"/>
          </a:xfrm>
          <a:custGeom>
            <a:avLst/>
            <a:gdLst/>
            <a:ahLst/>
            <a:cxnLst/>
            <a:rect r="r" b="b" t="t" l="l"/>
            <a:pathLst>
              <a:path h="902299" w="902299">
                <a:moveTo>
                  <a:pt x="0" y="0"/>
                </a:moveTo>
                <a:lnTo>
                  <a:pt x="902299" y="0"/>
                </a:lnTo>
                <a:lnTo>
                  <a:pt x="902299" y="902299"/>
                </a:lnTo>
                <a:lnTo>
                  <a:pt x="0" y="90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3964" y="759317"/>
            <a:ext cx="476717" cy="94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6"/>
              </a:lnSpc>
              <a:spcBef>
                <a:spcPct val="0"/>
              </a:spcBef>
            </a:pPr>
            <a:r>
              <a:rPr lang="en-US" sz="4997">
                <a:solidFill>
                  <a:srgbClr val="F88888"/>
                </a:solidFill>
                <a:latin typeface="Handyman"/>
                <a:ea typeface="Handyman"/>
                <a:cs typeface="Handyman"/>
                <a:sym typeface="Handyman"/>
              </a:rPr>
              <a:t>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8945" y="704850"/>
            <a:ext cx="9670110" cy="29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49"/>
              </a:lnSpc>
              <a:spcBef>
                <a:spcPct val="0"/>
              </a:spcBef>
            </a:pPr>
            <a:r>
              <a:rPr lang="en-US" sz="82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Quais são as funções do app?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1066" y="5169367"/>
            <a:ext cx="15805868" cy="4088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29"/>
              </a:lnSpc>
              <a:spcBef>
                <a:spcPct val="0"/>
              </a:spcBef>
            </a:pPr>
            <a:r>
              <a:rPr lang="en-US" sz="5735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Proteção por barulho: ative e ao bater palmas ou fazer barulho muito alto, ele telefona automaticamente para o 180 sem precisar discar no app de telefone!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449" y="669078"/>
            <a:ext cx="2412630" cy="1326234"/>
            <a:chOff x="0" y="0"/>
            <a:chExt cx="2454071" cy="1349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071" cy="1349024"/>
            </a:xfrm>
            <a:custGeom>
              <a:avLst/>
              <a:gdLst/>
              <a:ahLst/>
              <a:cxnLst/>
              <a:rect r="r" b="b" t="t" l="l"/>
              <a:pathLst>
                <a:path h="1349024" w="2454071">
                  <a:moveTo>
                    <a:pt x="2454071" y="674512"/>
                  </a:moveTo>
                  <a:lnTo>
                    <a:pt x="2454071" y="674512"/>
                  </a:lnTo>
                  <a:cubicBezTo>
                    <a:pt x="2454071" y="1047035"/>
                    <a:pt x="2152081" y="1349024"/>
                    <a:pt x="1779559" y="1349024"/>
                  </a:cubicBezTo>
                  <a:lnTo>
                    <a:pt x="674512" y="1349024"/>
                  </a:lnTo>
                  <a:cubicBezTo>
                    <a:pt x="301989" y="1349024"/>
                    <a:pt x="0" y="1047035"/>
                    <a:pt x="0" y="674512"/>
                  </a:cubicBezTo>
                  <a:lnTo>
                    <a:pt x="0" y="674512"/>
                  </a:lnTo>
                  <a:cubicBezTo>
                    <a:pt x="0" y="301989"/>
                    <a:pt x="301989" y="0"/>
                    <a:pt x="674512" y="0"/>
                  </a:cubicBezTo>
                  <a:lnTo>
                    <a:pt x="1779559" y="0"/>
                  </a:lnTo>
                  <a:cubicBezTo>
                    <a:pt x="1958450" y="0"/>
                    <a:pt x="2130015" y="71064"/>
                    <a:pt x="2256511" y="197560"/>
                  </a:cubicBezTo>
                  <a:cubicBezTo>
                    <a:pt x="2383006" y="324056"/>
                    <a:pt x="2454071" y="495620"/>
                    <a:pt x="2454071" y="674512"/>
                  </a:cubicBezTo>
                  <a:close/>
                </a:path>
              </a:pathLst>
            </a:custGeom>
            <a:solidFill>
              <a:srgbClr val="FFC9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4071" cy="1387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916" y="881046"/>
            <a:ext cx="902299" cy="902299"/>
          </a:xfrm>
          <a:custGeom>
            <a:avLst/>
            <a:gdLst/>
            <a:ahLst/>
            <a:cxnLst/>
            <a:rect r="r" b="b" t="t" l="l"/>
            <a:pathLst>
              <a:path h="902299" w="902299">
                <a:moveTo>
                  <a:pt x="0" y="0"/>
                </a:moveTo>
                <a:lnTo>
                  <a:pt x="902299" y="0"/>
                </a:lnTo>
                <a:lnTo>
                  <a:pt x="902299" y="902299"/>
                </a:lnTo>
                <a:lnTo>
                  <a:pt x="0" y="90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3964" y="759317"/>
            <a:ext cx="476717" cy="94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6"/>
              </a:lnSpc>
              <a:spcBef>
                <a:spcPct val="0"/>
              </a:spcBef>
            </a:pPr>
            <a:r>
              <a:rPr lang="en-US" sz="4997">
                <a:solidFill>
                  <a:srgbClr val="F88888"/>
                </a:solidFill>
                <a:latin typeface="Handyman"/>
                <a:ea typeface="Handyman"/>
                <a:cs typeface="Handyman"/>
                <a:sym typeface="Handyman"/>
              </a:rPr>
              <a:t>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8945" y="704850"/>
            <a:ext cx="9670110" cy="29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49"/>
              </a:lnSpc>
              <a:spcBef>
                <a:spcPct val="0"/>
              </a:spcBef>
            </a:pPr>
            <a:r>
              <a:rPr lang="en-US" sz="82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Quais são as funções do app?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80681" y="4794434"/>
            <a:ext cx="13326637" cy="446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89"/>
              </a:lnSpc>
              <a:spcBef>
                <a:spcPct val="0"/>
              </a:spcBef>
            </a:pPr>
            <a:r>
              <a:rPr lang="en-US" sz="6278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Balançe o celular para pedir ajuda: ao ativar, quando chacalhoar o celular, ele liga automaticamente pro 180 sem precisar discar no telefone!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449" y="669078"/>
            <a:ext cx="2412630" cy="1326234"/>
            <a:chOff x="0" y="0"/>
            <a:chExt cx="2454071" cy="1349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071" cy="1349024"/>
            </a:xfrm>
            <a:custGeom>
              <a:avLst/>
              <a:gdLst/>
              <a:ahLst/>
              <a:cxnLst/>
              <a:rect r="r" b="b" t="t" l="l"/>
              <a:pathLst>
                <a:path h="1349024" w="2454071">
                  <a:moveTo>
                    <a:pt x="2454071" y="674512"/>
                  </a:moveTo>
                  <a:lnTo>
                    <a:pt x="2454071" y="674512"/>
                  </a:lnTo>
                  <a:cubicBezTo>
                    <a:pt x="2454071" y="1047035"/>
                    <a:pt x="2152081" y="1349024"/>
                    <a:pt x="1779559" y="1349024"/>
                  </a:cubicBezTo>
                  <a:lnTo>
                    <a:pt x="674512" y="1349024"/>
                  </a:lnTo>
                  <a:cubicBezTo>
                    <a:pt x="301989" y="1349024"/>
                    <a:pt x="0" y="1047035"/>
                    <a:pt x="0" y="674512"/>
                  </a:cubicBezTo>
                  <a:lnTo>
                    <a:pt x="0" y="674512"/>
                  </a:lnTo>
                  <a:cubicBezTo>
                    <a:pt x="0" y="301989"/>
                    <a:pt x="301989" y="0"/>
                    <a:pt x="674512" y="0"/>
                  </a:cubicBezTo>
                  <a:lnTo>
                    <a:pt x="1779559" y="0"/>
                  </a:lnTo>
                  <a:cubicBezTo>
                    <a:pt x="1958450" y="0"/>
                    <a:pt x="2130015" y="71064"/>
                    <a:pt x="2256511" y="197560"/>
                  </a:cubicBezTo>
                  <a:cubicBezTo>
                    <a:pt x="2383006" y="324056"/>
                    <a:pt x="2454071" y="495620"/>
                    <a:pt x="2454071" y="674512"/>
                  </a:cubicBezTo>
                  <a:close/>
                </a:path>
              </a:pathLst>
            </a:custGeom>
            <a:solidFill>
              <a:srgbClr val="FFC9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4071" cy="1387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916" y="881046"/>
            <a:ext cx="902299" cy="902299"/>
          </a:xfrm>
          <a:custGeom>
            <a:avLst/>
            <a:gdLst/>
            <a:ahLst/>
            <a:cxnLst/>
            <a:rect r="r" b="b" t="t" l="l"/>
            <a:pathLst>
              <a:path h="902299" w="902299">
                <a:moveTo>
                  <a:pt x="0" y="0"/>
                </a:moveTo>
                <a:lnTo>
                  <a:pt x="902299" y="0"/>
                </a:lnTo>
                <a:lnTo>
                  <a:pt x="902299" y="902299"/>
                </a:lnTo>
                <a:lnTo>
                  <a:pt x="0" y="90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3964" y="759317"/>
            <a:ext cx="476717" cy="94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6"/>
              </a:lnSpc>
              <a:spcBef>
                <a:spcPct val="0"/>
              </a:spcBef>
            </a:pPr>
            <a:r>
              <a:rPr lang="en-US" sz="4997">
                <a:solidFill>
                  <a:srgbClr val="F88888"/>
                </a:solidFill>
                <a:latin typeface="Handyman"/>
                <a:ea typeface="Handyman"/>
                <a:cs typeface="Handyman"/>
                <a:sym typeface="Handyman"/>
              </a:rPr>
              <a:t>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8945" y="704850"/>
            <a:ext cx="9670110" cy="29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49"/>
              </a:lnSpc>
              <a:spcBef>
                <a:spcPct val="0"/>
              </a:spcBef>
            </a:pPr>
            <a:r>
              <a:rPr lang="en-US" sz="82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Quais são as funções do app?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78763" y="4483193"/>
            <a:ext cx="14688513" cy="4775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39"/>
              </a:lnSpc>
              <a:spcBef>
                <a:spcPct val="0"/>
              </a:spcBef>
            </a:pPr>
            <a:r>
              <a:rPr lang="en-US" sz="5385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Os 4 botões: existem 4 botões no app que ao clicar neles, eles abrem o app de telefone ja discado, precisando só ligar, respectivamente nos numeros 190, 192, 180 e outro que abre o app do WhatsApp na conversa do número do 180!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449" y="669078"/>
            <a:ext cx="2412630" cy="1326234"/>
            <a:chOff x="0" y="0"/>
            <a:chExt cx="2454071" cy="1349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071" cy="1349024"/>
            </a:xfrm>
            <a:custGeom>
              <a:avLst/>
              <a:gdLst/>
              <a:ahLst/>
              <a:cxnLst/>
              <a:rect r="r" b="b" t="t" l="l"/>
              <a:pathLst>
                <a:path h="1349024" w="2454071">
                  <a:moveTo>
                    <a:pt x="2454071" y="674512"/>
                  </a:moveTo>
                  <a:lnTo>
                    <a:pt x="2454071" y="674512"/>
                  </a:lnTo>
                  <a:cubicBezTo>
                    <a:pt x="2454071" y="1047035"/>
                    <a:pt x="2152081" y="1349024"/>
                    <a:pt x="1779559" y="1349024"/>
                  </a:cubicBezTo>
                  <a:lnTo>
                    <a:pt x="674512" y="1349024"/>
                  </a:lnTo>
                  <a:cubicBezTo>
                    <a:pt x="301989" y="1349024"/>
                    <a:pt x="0" y="1047035"/>
                    <a:pt x="0" y="674512"/>
                  </a:cubicBezTo>
                  <a:lnTo>
                    <a:pt x="0" y="674512"/>
                  </a:lnTo>
                  <a:cubicBezTo>
                    <a:pt x="0" y="301989"/>
                    <a:pt x="301989" y="0"/>
                    <a:pt x="674512" y="0"/>
                  </a:cubicBezTo>
                  <a:lnTo>
                    <a:pt x="1779559" y="0"/>
                  </a:lnTo>
                  <a:cubicBezTo>
                    <a:pt x="1958450" y="0"/>
                    <a:pt x="2130015" y="71064"/>
                    <a:pt x="2256511" y="197560"/>
                  </a:cubicBezTo>
                  <a:cubicBezTo>
                    <a:pt x="2383006" y="324056"/>
                    <a:pt x="2454071" y="495620"/>
                    <a:pt x="2454071" y="674512"/>
                  </a:cubicBezTo>
                  <a:close/>
                </a:path>
              </a:pathLst>
            </a:custGeom>
            <a:solidFill>
              <a:srgbClr val="FFC9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4071" cy="1387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916" y="881046"/>
            <a:ext cx="902299" cy="902299"/>
          </a:xfrm>
          <a:custGeom>
            <a:avLst/>
            <a:gdLst/>
            <a:ahLst/>
            <a:cxnLst/>
            <a:rect r="r" b="b" t="t" l="l"/>
            <a:pathLst>
              <a:path h="902299" w="902299">
                <a:moveTo>
                  <a:pt x="0" y="0"/>
                </a:moveTo>
                <a:lnTo>
                  <a:pt x="902299" y="0"/>
                </a:lnTo>
                <a:lnTo>
                  <a:pt x="902299" y="902299"/>
                </a:lnTo>
                <a:lnTo>
                  <a:pt x="0" y="90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3964" y="759317"/>
            <a:ext cx="476717" cy="94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6"/>
              </a:lnSpc>
              <a:spcBef>
                <a:spcPct val="0"/>
              </a:spcBef>
            </a:pPr>
            <a:r>
              <a:rPr lang="en-US" sz="4997">
                <a:solidFill>
                  <a:srgbClr val="F88888"/>
                </a:solidFill>
                <a:latin typeface="Handyman"/>
                <a:ea typeface="Handyman"/>
                <a:cs typeface="Handyman"/>
                <a:sym typeface="Handyman"/>
              </a:rPr>
              <a:t>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8945" y="704850"/>
            <a:ext cx="9670110" cy="29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49"/>
              </a:lnSpc>
              <a:spcBef>
                <a:spcPct val="0"/>
              </a:spcBef>
            </a:pPr>
            <a:r>
              <a:rPr lang="en-US" sz="82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Quais são as funções do app?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78763" y="4185133"/>
            <a:ext cx="14280071" cy="507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97"/>
              </a:lnSpc>
              <a:spcBef>
                <a:spcPct val="0"/>
              </a:spcBef>
            </a:pPr>
            <a:r>
              <a:rPr lang="en-US" sz="7140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Botão de localização: ao clicar nele, ele cria um link do google maps, chama o app de WhatsApp e envia pro número do 180!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449" y="669078"/>
            <a:ext cx="2412630" cy="1326234"/>
            <a:chOff x="0" y="0"/>
            <a:chExt cx="2454071" cy="1349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071" cy="1349024"/>
            </a:xfrm>
            <a:custGeom>
              <a:avLst/>
              <a:gdLst/>
              <a:ahLst/>
              <a:cxnLst/>
              <a:rect r="r" b="b" t="t" l="l"/>
              <a:pathLst>
                <a:path h="1349024" w="2454071">
                  <a:moveTo>
                    <a:pt x="2454071" y="674512"/>
                  </a:moveTo>
                  <a:lnTo>
                    <a:pt x="2454071" y="674512"/>
                  </a:lnTo>
                  <a:cubicBezTo>
                    <a:pt x="2454071" y="1047035"/>
                    <a:pt x="2152081" y="1349024"/>
                    <a:pt x="1779559" y="1349024"/>
                  </a:cubicBezTo>
                  <a:lnTo>
                    <a:pt x="674512" y="1349024"/>
                  </a:lnTo>
                  <a:cubicBezTo>
                    <a:pt x="301989" y="1349024"/>
                    <a:pt x="0" y="1047035"/>
                    <a:pt x="0" y="674512"/>
                  </a:cubicBezTo>
                  <a:lnTo>
                    <a:pt x="0" y="674512"/>
                  </a:lnTo>
                  <a:cubicBezTo>
                    <a:pt x="0" y="301989"/>
                    <a:pt x="301989" y="0"/>
                    <a:pt x="674512" y="0"/>
                  </a:cubicBezTo>
                  <a:lnTo>
                    <a:pt x="1779559" y="0"/>
                  </a:lnTo>
                  <a:cubicBezTo>
                    <a:pt x="1958450" y="0"/>
                    <a:pt x="2130015" y="71064"/>
                    <a:pt x="2256511" y="197560"/>
                  </a:cubicBezTo>
                  <a:cubicBezTo>
                    <a:pt x="2383006" y="324056"/>
                    <a:pt x="2454071" y="495620"/>
                    <a:pt x="2454071" y="674512"/>
                  </a:cubicBezTo>
                  <a:close/>
                </a:path>
              </a:pathLst>
            </a:custGeom>
            <a:solidFill>
              <a:srgbClr val="FFC9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4071" cy="1387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916" y="881046"/>
            <a:ext cx="902299" cy="902299"/>
          </a:xfrm>
          <a:custGeom>
            <a:avLst/>
            <a:gdLst/>
            <a:ahLst/>
            <a:cxnLst/>
            <a:rect r="r" b="b" t="t" l="l"/>
            <a:pathLst>
              <a:path h="902299" w="902299">
                <a:moveTo>
                  <a:pt x="0" y="0"/>
                </a:moveTo>
                <a:lnTo>
                  <a:pt x="902299" y="0"/>
                </a:lnTo>
                <a:lnTo>
                  <a:pt x="902299" y="902299"/>
                </a:lnTo>
                <a:lnTo>
                  <a:pt x="0" y="90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3964" y="759317"/>
            <a:ext cx="476717" cy="94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6"/>
              </a:lnSpc>
              <a:spcBef>
                <a:spcPct val="0"/>
              </a:spcBef>
            </a:pPr>
            <a:r>
              <a:rPr lang="en-US" sz="4997">
                <a:solidFill>
                  <a:srgbClr val="F88888"/>
                </a:solidFill>
                <a:latin typeface="Handyman"/>
                <a:ea typeface="Handyman"/>
                <a:cs typeface="Handyman"/>
                <a:sym typeface="Handyman"/>
              </a:rPr>
              <a:t>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8945" y="704850"/>
            <a:ext cx="9670110" cy="29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49"/>
              </a:lnSpc>
              <a:spcBef>
                <a:spcPct val="0"/>
              </a:spcBef>
            </a:pPr>
            <a:r>
              <a:rPr lang="en-US" sz="82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Quais são as funções do app?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90890" y="4378159"/>
            <a:ext cx="12706220" cy="4880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13"/>
              </a:lnSpc>
              <a:spcBef>
                <a:spcPct val="0"/>
              </a:spcBef>
            </a:pPr>
            <a:r>
              <a:rPr lang="en-US" sz="5509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Contatos de confiança: no primeiro botão, ele abre o app de contatos nativo do celular, você escolhe APENAS UM e salva, no segundo, você envia um sms com sua localização para esse contato!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449" y="669078"/>
            <a:ext cx="2412630" cy="1326234"/>
            <a:chOff x="0" y="0"/>
            <a:chExt cx="2454071" cy="1349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071" cy="1349024"/>
            </a:xfrm>
            <a:custGeom>
              <a:avLst/>
              <a:gdLst/>
              <a:ahLst/>
              <a:cxnLst/>
              <a:rect r="r" b="b" t="t" l="l"/>
              <a:pathLst>
                <a:path h="1349024" w="2454071">
                  <a:moveTo>
                    <a:pt x="2454071" y="674512"/>
                  </a:moveTo>
                  <a:lnTo>
                    <a:pt x="2454071" y="674512"/>
                  </a:lnTo>
                  <a:cubicBezTo>
                    <a:pt x="2454071" y="1047035"/>
                    <a:pt x="2152081" y="1349024"/>
                    <a:pt x="1779559" y="1349024"/>
                  </a:cubicBezTo>
                  <a:lnTo>
                    <a:pt x="674512" y="1349024"/>
                  </a:lnTo>
                  <a:cubicBezTo>
                    <a:pt x="301989" y="1349024"/>
                    <a:pt x="0" y="1047035"/>
                    <a:pt x="0" y="674512"/>
                  </a:cubicBezTo>
                  <a:lnTo>
                    <a:pt x="0" y="674512"/>
                  </a:lnTo>
                  <a:cubicBezTo>
                    <a:pt x="0" y="301989"/>
                    <a:pt x="301989" y="0"/>
                    <a:pt x="674512" y="0"/>
                  </a:cubicBezTo>
                  <a:lnTo>
                    <a:pt x="1779559" y="0"/>
                  </a:lnTo>
                  <a:cubicBezTo>
                    <a:pt x="1958450" y="0"/>
                    <a:pt x="2130015" y="71064"/>
                    <a:pt x="2256511" y="197560"/>
                  </a:cubicBezTo>
                  <a:cubicBezTo>
                    <a:pt x="2383006" y="324056"/>
                    <a:pt x="2454071" y="495620"/>
                    <a:pt x="2454071" y="674512"/>
                  </a:cubicBezTo>
                  <a:close/>
                </a:path>
              </a:pathLst>
            </a:custGeom>
            <a:solidFill>
              <a:srgbClr val="FFC9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4071" cy="1387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916" y="881046"/>
            <a:ext cx="902299" cy="902299"/>
          </a:xfrm>
          <a:custGeom>
            <a:avLst/>
            <a:gdLst/>
            <a:ahLst/>
            <a:cxnLst/>
            <a:rect r="r" b="b" t="t" l="l"/>
            <a:pathLst>
              <a:path h="902299" w="902299">
                <a:moveTo>
                  <a:pt x="0" y="0"/>
                </a:moveTo>
                <a:lnTo>
                  <a:pt x="902299" y="0"/>
                </a:lnTo>
                <a:lnTo>
                  <a:pt x="902299" y="902299"/>
                </a:lnTo>
                <a:lnTo>
                  <a:pt x="0" y="90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3964" y="759317"/>
            <a:ext cx="476717" cy="94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6"/>
              </a:lnSpc>
              <a:spcBef>
                <a:spcPct val="0"/>
              </a:spcBef>
            </a:pPr>
            <a:r>
              <a:rPr lang="en-US" sz="4997">
                <a:solidFill>
                  <a:srgbClr val="F88888"/>
                </a:solidFill>
                <a:latin typeface="Handyman"/>
                <a:ea typeface="Handyman"/>
                <a:cs typeface="Handyman"/>
                <a:sym typeface="Handyman"/>
              </a:rPr>
              <a:t>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8945" y="704850"/>
            <a:ext cx="9670110" cy="29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49"/>
              </a:lnSpc>
              <a:spcBef>
                <a:spcPct val="0"/>
              </a:spcBef>
            </a:pPr>
            <a:r>
              <a:rPr lang="en-US" sz="82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Quais são as funções do app?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08945" y="4378159"/>
            <a:ext cx="9670110" cy="4880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13"/>
              </a:lnSpc>
              <a:spcBef>
                <a:spcPct val="0"/>
              </a:spcBef>
            </a:pPr>
            <a:r>
              <a:rPr lang="en-US" sz="5509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Área Protegida: uma área que só é desbloqueada com impressão digital, rosto, PIN, senha ou padrão (depende de qual deles está cadastrado no celular)!</a:t>
            </a: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449" y="669078"/>
            <a:ext cx="2412630" cy="1326234"/>
            <a:chOff x="0" y="0"/>
            <a:chExt cx="2454071" cy="1349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071" cy="1349024"/>
            </a:xfrm>
            <a:custGeom>
              <a:avLst/>
              <a:gdLst/>
              <a:ahLst/>
              <a:cxnLst/>
              <a:rect r="r" b="b" t="t" l="l"/>
              <a:pathLst>
                <a:path h="1349024" w="2454071">
                  <a:moveTo>
                    <a:pt x="2454071" y="674512"/>
                  </a:moveTo>
                  <a:lnTo>
                    <a:pt x="2454071" y="674512"/>
                  </a:lnTo>
                  <a:cubicBezTo>
                    <a:pt x="2454071" y="1047035"/>
                    <a:pt x="2152081" y="1349024"/>
                    <a:pt x="1779559" y="1349024"/>
                  </a:cubicBezTo>
                  <a:lnTo>
                    <a:pt x="674512" y="1349024"/>
                  </a:lnTo>
                  <a:cubicBezTo>
                    <a:pt x="301989" y="1349024"/>
                    <a:pt x="0" y="1047035"/>
                    <a:pt x="0" y="674512"/>
                  </a:cubicBezTo>
                  <a:lnTo>
                    <a:pt x="0" y="674512"/>
                  </a:lnTo>
                  <a:cubicBezTo>
                    <a:pt x="0" y="301989"/>
                    <a:pt x="301989" y="0"/>
                    <a:pt x="674512" y="0"/>
                  </a:cubicBezTo>
                  <a:lnTo>
                    <a:pt x="1779559" y="0"/>
                  </a:lnTo>
                  <a:cubicBezTo>
                    <a:pt x="1958450" y="0"/>
                    <a:pt x="2130015" y="71064"/>
                    <a:pt x="2256511" y="197560"/>
                  </a:cubicBezTo>
                  <a:cubicBezTo>
                    <a:pt x="2383006" y="324056"/>
                    <a:pt x="2454071" y="495620"/>
                    <a:pt x="2454071" y="674512"/>
                  </a:cubicBezTo>
                  <a:close/>
                </a:path>
              </a:pathLst>
            </a:custGeom>
            <a:solidFill>
              <a:srgbClr val="FFC9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4071" cy="1387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916" y="881046"/>
            <a:ext cx="902299" cy="902299"/>
          </a:xfrm>
          <a:custGeom>
            <a:avLst/>
            <a:gdLst/>
            <a:ahLst/>
            <a:cxnLst/>
            <a:rect r="r" b="b" t="t" l="l"/>
            <a:pathLst>
              <a:path h="902299" w="902299">
                <a:moveTo>
                  <a:pt x="0" y="0"/>
                </a:moveTo>
                <a:lnTo>
                  <a:pt x="902299" y="0"/>
                </a:lnTo>
                <a:lnTo>
                  <a:pt x="902299" y="902299"/>
                </a:lnTo>
                <a:lnTo>
                  <a:pt x="0" y="90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3964" y="759317"/>
            <a:ext cx="476717" cy="94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6"/>
              </a:lnSpc>
              <a:spcBef>
                <a:spcPct val="0"/>
              </a:spcBef>
            </a:pPr>
            <a:r>
              <a:rPr lang="en-US" sz="4997">
                <a:solidFill>
                  <a:srgbClr val="F88888"/>
                </a:solidFill>
                <a:latin typeface="Handyman"/>
                <a:ea typeface="Handyman"/>
                <a:cs typeface="Handyman"/>
                <a:sym typeface="Handyman"/>
              </a:rPr>
              <a:t>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8945" y="704850"/>
            <a:ext cx="9670110" cy="29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49"/>
              </a:lnSpc>
              <a:spcBef>
                <a:spcPct val="0"/>
              </a:spcBef>
            </a:pPr>
            <a:r>
              <a:rPr lang="en-US" sz="82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Quais são as funções do app?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35535" y="4080891"/>
            <a:ext cx="14416930" cy="5177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94"/>
              </a:lnSpc>
              <a:spcBef>
                <a:spcPct val="0"/>
              </a:spcBef>
            </a:pPr>
            <a:r>
              <a:rPr lang="en-US" sz="7281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Nota: se não tiver nada cadastrado no celular, ele desbloqueia mesmo assim, e quando desbloqueia toca som e ao sair também toca som!</a:t>
            </a:r>
          </a:p>
        </p:txBody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449" y="669078"/>
            <a:ext cx="2412630" cy="1326234"/>
            <a:chOff x="0" y="0"/>
            <a:chExt cx="2454071" cy="1349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071" cy="1349024"/>
            </a:xfrm>
            <a:custGeom>
              <a:avLst/>
              <a:gdLst/>
              <a:ahLst/>
              <a:cxnLst/>
              <a:rect r="r" b="b" t="t" l="l"/>
              <a:pathLst>
                <a:path h="1349024" w="2454071">
                  <a:moveTo>
                    <a:pt x="2454071" y="674512"/>
                  </a:moveTo>
                  <a:lnTo>
                    <a:pt x="2454071" y="674512"/>
                  </a:lnTo>
                  <a:cubicBezTo>
                    <a:pt x="2454071" y="1047035"/>
                    <a:pt x="2152081" y="1349024"/>
                    <a:pt x="1779559" y="1349024"/>
                  </a:cubicBezTo>
                  <a:lnTo>
                    <a:pt x="674512" y="1349024"/>
                  </a:lnTo>
                  <a:cubicBezTo>
                    <a:pt x="301989" y="1349024"/>
                    <a:pt x="0" y="1047035"/>
                    <a:pt x="0" y="674512"/>
                  </a:cubicBezTo>
                  <a:lnTo>
                    <a:pt x="0" y="674512"/>
                  </a:lnTo>
                  <a:cubicBezTo>
                    <a:pt x="0" y="301989"/>
                    <a:pt x="301989" y="0"/>
                    <a:pt x="674512" y="0"/>
                  </a:cubicBezTo>
                  <a:lnTo>
                    <a:pt x="1779559" y="0"/>
                  </a:lnTo>
                  <a:cubicBezTo>
                    <a:pt x="1958450" y="0"/>
                    <a:pt x="2130015" y="71064"/>
                    <a:pt x="2256511" y="197560"/>
                  </a:cubicBezTo>
                  <a:cubicBezTo>
                    <a:pt x="2383006" y="324056"/>
                    <a:pt x="2454071" y="495620"/>
                    <a:pt x="2454071" y="674512"/>
                  </a:cubicBezTo>
                  <a:close/>
                </a:path>
              </a:pathLst>
            </a:custGeom>
            <a:solidFill>
              <a:srgbClr val="FFC9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4071" cy="1387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916" y="881046"/>
            <a:ext cx="902299" cy="902299"/>
          </a:xfrm>
          <a:custGeom>
            <a:avLst/>
            <a:gdLst/>
            <a:ahLst/>
            <a:cxnLst/>
            <a:rect r="r" b="b" t="t" l="l"/>
            <a:pathLst>
              <a:path h="902299" w="902299">
                <a:moveTo>
                  <a:pt x="0" y="0"/>
                </a:moveTo>
                <a:lnTo>
                  <a:pt x="902299" y="0"/>
                </a:lnTo>
                <a:lnTo>
                  <a:pt x="902299" y="902299"/>
                </a:lnTo>
                <a:lnTo>
                  <a:pt x="0" y="90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3964" y="759317"/>
            <a:ext cx="476717" cy="94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6"/>
              </a:lnSpc>
              <a:spcBef>
                <a:spcPct val="0"/>
              </a:spcBef>
            </a:pPr>
            <a:r>
              <a:rPr lang="en-US" sz="4997">
                <a:solidFill>
                  <a:srgbClr val="F88888"/>
                </a:solidFill>
                <a:latin typeface="Handyman"/>
                <a:ea typeface="Handyman"/>
                <a:cs typeface="Handyman"/>
                <a:sym typeface="Handyman"/>
              </a:rPr>
              <a:t>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8945" y="704850"/>
            <a:ext cx="9670110" cy="29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49"/>
              </a:lnSpc>
              <a:spcBef>
                <a:spcPct val="0"/>
              </a:spcBef>
            </a:pPr>
            <a:r>
              <a:rPr lang="en-US" sz="82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Quais são as funções do app?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85078" y="4286748"/>
            <a:ext cx="12454702" cy="497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946"/>
              </a:lnSpc>
              <a:spcBef>
                <a:spcPct val="0"/>
              </a:spcBef>
            </a:pPr>
            <a:r>
              <a:rPr lang="en-US" sz="9247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As próximas funções funcionam dentro da área protegida!</a:t>
            </a:r>
          </a:p>
        </p:txBody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449" y="669078"/>
            <a:ext cx="2412630" cy="1326234"/>
            <a:chOff x="0" y="0"/>
            <a:chExt cx="2454071" cy="1349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071" cy="1349024"/>
            </a:xfrm>
            <a:custGeom>
              <a:avLst/>
              <a:gdLst/>
              <a:ahLst/>
              <a:cxnLst/>
              <a:rect r="r" b="b" t="t" l="l"/>
              <a:pathLst>
                <a:path h="1349024" w="2454071">
                  <a:moveTo>
                    <a:pt x="2454071" y="674512"/>
                  </a:moveTo>
                  <a:lnTo>
                    <a:pt x="2454071" y="674512"/>
                  </a:lnTo>
                  <a:cubicBezTo>
                    <a:pt x="2454071" y="1047035"/>
                    <a:pt x="2152081" y="1349024"/>
                    <a:pt x="1779559" y="1349024"/>
                  </a:cubicBezTo>
                  <a:lnTo>
                    <a:pt x="674512" y="1349024"/>
                  </a:lnTo>
                  <a:cubicBezTo>
                    <a:pt x="301989" y="1349024"/>
                    <a:pt x="0" y="1047035"/>
                    <a:pt x="0" y="674512"/>
                  </a:cubicBezTo>
                  <a:lnTo>
                    <a:pt x="0" y="674512"/>
                  </a:lnTo>
                  <a:cubicBezTo>
                    <a:pt x="0" y="301989"/>
                    <a:pt x="301989" y="0"/>
                    <a:pt x="674512" y="0"/>
                  </a:cubicBezTo>
                  <a:lnTo>
                    <a:pt x="1779559" y="0"/>
                  </a:lnTo>
                  <a:cubicBezTo>
                    <a:pt x="1958450" y="0"/>
                    <a:pt x="2130015" y="71064"/>
                    <a:pt x="2256511" y="197560"/>
                  </a:cubicBezTo>
                  <a:cubicBezTo>
                    <a:pt x="2383006" y="324056"/>
                    <a:pt x="2454071" y="495620"/>
                    <a:pt x="2454071" y="674512"/>
                  </a:cubicBezTo>
                  <a:close/>
                </a:path>
              </a:pathLst>
            </a:custGeom>
            <a:solidFill>
              <a:srgbClr val="FFC9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4071" cy="1387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916" y="881046"/>
            <a:ext cx="902299" cy="902299"/>
          </a:xfrm>
          <a:custGeom>
            <a:avLst/>
            <a:gdLst/>
            <a:ahLst/>
            <a:cxnLst/>
            <a:rect r="r" b="b" t="t" l="l"/>
            <a:pathLst>
              <a:path h="902299" w="902299">
                <a:moveTo>
                  <a:pt x="0" y="0"/>
                </a:moveTo>
                <a:lnTo>
                  <a:pt x="902299" y="0"/>
                </a:lnTo>
                <a:lnTo>
                  <a:pt x="902299" y="902299"/>
                </a:lnTo>
                <a:lnTo>
                  <a:pt x="0" y="90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3964" y="759317"/>
            <a:ext cx="476717" cy="94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6"/>
              </a:lnSpc>
              <a:spcBef>
                <a:spcPct val="0"/>
              </a:spcBef>
            </a:pPr>
            <a:r>
              <a:rPr lang="en-US" sz="4997">
                <a:solidFill>
                  <a:srgbClr val="F88888"/>
                </a:solidFill>
                <a:latin typeface="Handyman"/>
                <a:ea typeface="Handyman"/>
                <a:cs typeface="Handyman"/>
                <a:sym typeface="Handyman"/>
              </a:rPr>
              <a:t>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8945" y="704850"/>
            <a:ext cx="9670110" cy="29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49"/>
              </a:lnSpc>
              <a:spcBef>
                <a:spcPct val="0"/>
              </a:spcBef>
            </a:pPr>
            <a:r>
              <a:rPr lang="en-US" sz="82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Quais são as funções do app?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35535" y="4080891"/>
            <a:ext cx="14416930" cy="5177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94"/>
              </a:lnSpc>
              <a:spcBef>
                <a:spcPct val="0"/>
              </a:spcBef>
            </a:pPr>
            <a:r>
              <a:rPr lang="en-US" sz="7281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Calendário Menstrual: registro de dias manual, com ≈20 perguntas e 6 gráficos diferentes quando gera os resultados!</a:t>
            </a:r>
          </a:p>
        </p:txBody>
      </p: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449" y="669078"/>
            <a:ext cx="2412630" cy="1326234"/>
            <a:chOff x="0" y="0"/>
            <a:chExt cx="2454071" cy="1349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071" cy="1349024"/>
            </a:xfrm>
            <a:custGeom>
              <a:avLst/>
              <a:gdLst/>
              <a:ahLst/>
              <a:cxnLst/>
              <a:rect r="r" b="b" t="t" l="l"/>
              <a:pathLst>
                <a:path h="1349024" w="2454071">
                  <a:moveTo>
                    <a:pt x="2454071" y="674512"/>
                  </a:moveTo>
                  <a:lnTo>
                    <a:pt x="2454071" y="674512"/>
                  </a:lnTo>
                  <a:cubicBezTo>
                    <a:pt x="2454071" y="1047035"/>
                    <a:pt x="2152081" y="1349024"/>
                    <a:pt x="1779559" y="1349024"/>
                  </a:cubicBezTo>
                  <a:lnTo>
                    <a:pt x="674512" y="1349024"/>
                  </a:lnTo>
                  <a:cubicBezTo>
                    <a:pt x="301989" y="1349024"/>
                    <a:pt x="0" y="1047035"/>
                    <a:pt x="0" y="674512"/>
                  </a:cubicBezTo>
                  <a:lnTo>
                    <a:pt x="0" y="674512"/>
                  </a:lnTo>
                  <a:cubicBezTo>
                    <a:pt x="0" y="301989"/>
                    <a:pt x="301989" y="0"/>
                    <a:pt x="674512" y="0"/>
                  </a:cubicBezTo>
                  <a:lnTo>
                    <a:pt x="1779559" y="0"/>
                  </a:lnTo>
                  <a:cubicBezTo>
                    <a:pt x="1958450" y="0"/>
                    <a:pt x="2130015" y="71064"/>
                    <a:pt x="2256511" y="197560"/>
                  </a:cubicBezTo>
                  <a:cubicBezTo>
                    <a:pt x="2383006" y="324056"/>
                    <a:pt x="2454071" y="495620"/>
                    <a:pt x="2454071" y="674512"/>
                  </a:cubicBezTo>
                  <a:close/>
                </a:path>
              </a:pathLst>
            </a:custGeom>
            <a:solidFill>
              <a:srgbClr val="FFC9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4071" cy="1387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916" y="881046"/>
            <a:ext cx="902299" cy="902299"/>
          </a:xfrm>
          <a:custGeom>
            <a:avLst/>
            <a:gdLst/>
            <a:ahLst/>
            <a:cxnLst/>
            <a:rect r="r" b="b" t="t" l="l"/>
            <a:pathLst>
              <a:path h="902299" w="902299">
                <a:moveTo>
                  <a:pt x="0" y="0"/>
                </a:moveTo>
                <a:lnTo>
                  <a:pt x="902299" y="0"/>
                </a:lnTo>
                <a:lnTo>
                  <a:pt x="902299" y="902299"/>
                </a:lnTo>
                <a:lnTo>
                  <a:pt x="0" y="90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3964" y="759317"/>
            <a:ext cx="476717" cy="94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6"/>
              </a:lnSpc>
              <a:spcBef>
                <a:spcPct val="0"/>
              </a:spcBef>
            </a:pPr>
            <a:r>
              <a:rPr lang="en-US" sz="4997">
                <a:solidFill>
                  <a:srgbClr val="F88888"/>
                </a:solidFill>
                <a:latin typeface="Handyman"/>
                <a:ea typeface="Handyman"/>
                <a:cs typeface="Handyman"/>
                <a:sym typeface="Handyman"/>
              </a:rPr>
              <a:t>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8945" y="704850"/>
            <a:ext cx="9670110" cy="29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49"/>
              </a:lnSpc>
              <a:spcBef>
                <a:spcPct val="0"/>
              </a:spcBef>
            </a:pPr>
            <a:r>
              <a:rPr lang="en-US" sz="82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Quais são as funções do app?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35535" y="5352424"/>
            <a:ext cx="14416930" cy="3905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94"/>
              </a:lnSpc>
              <a:spcBef>
                <a:spcPct val="0"/>
              </a:spcBef>
            </a:pPr>
            <a:r>
              <a:rPr lang="en-US" sz="7281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Calendário de eventos: registro manuel de tarefas e eventos diários em cada mês do ano!</a:t>
            </a:r>
          </a:p>
        </p:txBody>
      </p: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449" y="669078"/>
            <a:ext cx="2412630" cy="1326234"/>
            <a:chOff x="0" y="0"/>
            <a:chExt cx="2454071" cy="1349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071" cy="1349024"/>
            </a:xfrm>
            <a:custGeom>
              <a:avLst/>
              <a:gdLst/>
              <a:ahLst/>
              <a:cxnLst/>
              <a:rect r="r" b="b" t="t" l="l"/>
              <a:pathLst>
                <a:path h="1349024" w="2454071">
                  <a:moveTo>
                    <a:pt x="2454071" y="674512"/>
                  </a:moveTo>
                  <a:lnTo>
                    <a:pt x="2454071" y="674512"/>
                  </a:lnTo>
                  <a:cubicBezTo>
                    <a:pt x="2454071" y="1047035"/>
                    <a:pt x="2152081" y="1349024"/>
                    <a:pt x="1779559" y="1349024"/>
                  </a:cubicBezTo>
                  <a:lnTo>
                    <a:pt x="674512" y="1349024"/>
                  </a:lnTo>
                  <a:cubicBezTo>
                    <a:pt x="301989" y="1349024"/>
                    <a:pt x="0" y="1047035"/>
                    <a:pt x="0" y="674512"/>
                  </a:cubicBezTo>
                  <a:lnTo>
                    <a:pt x="0" y="674512"/>
                  </a:lnTo>
                  <a:cubicBezTo>
                    <a:pt x="0" y="301989"/>
                    <a:pt x="301989" y="0"/>
                    <a:pt x="674512" y="0"/>
                  </a:cubicBezTo>
                  <a:lnTo>
                    <a:pt x="1779559" y="0"/>
                  </a:lnTo>
                  <a:cubicBezTo>
                    <a:pt x="1958450" y="0"/>
                    <a:pt x="2130015" y="71064"/>
                    <a:pt x="2256511" y="197560"/>
                  </a:cubicBezTo>
                  <a:cubicBezTo>
                    <a:pt x="2383006" y="324056"/>
                    <a:pt x="2454071" y="495620"/>
                    <a:pt x="2454071" y="674512"/>
                  </a:cubicBezTo>
                  <a:close/>
                </a:path>
              </a:pathLst>
            </a:custGeom>
            <a:solidFill>
              <a:srgbClr val="FFC9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4071" cy="1387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916" y="881046"/>
            <a:ext cx="902299" cy="902299"/>
          </a:xfrm>
          <a:custGeom>
            <a:avLst/>
            <a:gdLst/>
            <a:ahLst/>
            <a:cxnLst/>
            <a:rect r="r" b="b" t="t" l="l"/>
            <a:pathLst>
              <a:path h="902299" w="902299">
                <a:moveTo>
                  <a:pt x="0" y="0"/>
                </a:moveTo>
                <a:lnTo>
                  <a:pt x="902299" y="0"/>
                </a:lnTo>
                <a:lnTo>
                  <a:pt x="902299" y="902299"/>
                </a:lnTo>
                <a:lnTo>
                  <a:pt x="0" y="90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3964" y="759317"/>
            <a:ext cx="476717" cy="94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6"/>
              </a:lnSpc>
              <a:spcBef>
                <a:spcPct val="0"/>
              </a:spcBef>
            </a:pPr>
            <a:r>
              <a:rPr lang="en-US" sz="4997">
                <a:solidFill>
                  <a:srgbClr val="F88888"/>
                </a:solidFill>
                <a:latin typeface="Handyman"/>
                <a:ea typeface="Handyman"/>
                <a:cs typeface="Handyman"/>
                <a:sym typeface="Handyman"/>
              </a:rPr>
              <a:t>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8945" y="704850"/>
            <a:ext cx="9670110" cy="29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49"/>
              </a:lnSpc>
              <a:spcBef>
                <a:spcPct val="0"/>
              </a:spcBef>
            </a:pPr>
            <a:r>
              <a:rPr lang="en-US" sz="82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Quais são as funções do app?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35535" y="5352424"/>
            <a:ext cx="14416930" cy="3905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94"/>
              </a:lnSpc>
              <a:spcBef>
                <a:spcPct val="0"/>
              </a:spcBef>
            </a:pPr>
            <a:r>
              <a:rPr lang="en-US" sz="7281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Mapa: um mapa completo da sua região, registrando onde fica cada ponto e cada lugar!</a:t>
            </a:r>
          </a:p>
        </p:txBody>
      </p:sp>
    </p:spTree>
  </p:cSld>
  <p:clrMapOvr>
    <a:masterClrMapping/>
  </p:clrMapOvr>
  <p:transition spd="slow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449" y="669078"/>
            <a:ext cx="2412630" cy="1326234"/>
            <a:chOff x="0" y="0"/>
            <a:chExt cx="2454071" cy="1349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071" cy="1349024"/>
            </a:xfrm>
            <a:custGeom>
              <a:avLst/>
              <a:gdLst/>
              <a:ahLst/>
              <a:cxnLst/>
              <a:rect r="r" b="b" t="t" l="l"/>
              <a:pathLst>
                <a:path h="1349024" w="2454071">
                  <a:moveTo>
                    <a:pt x="2454071" y="674512"/>
                  </a:moveTo>
                  <a:lnTo>
                    <a:pt x="2454071" y="674512"/>
                  </a:lnTo>
                  <a:cubicBezTo>
                    <a:pt x="2454071" y="1047035"/>
                    <a:pt x="2152081" y="1349024"/>
                    <a:pt x="1779559" y="1349024"/>
                  </a:cubicBezTo>
                  <a:lnTo>
                    <a:pt x="674512" y="1349024"/>
                  </a:lnTo>
                  <a:cubicBezTo>
                    <a:pt x="301989" y="1349024"/>
                    <a:pt x="0" y="1047035"/>
                    <a:pt x="0" y="674512"/>
                  </a:cubicBezTo>
                  <a:lnTo>
                    <a:pt x="0" y="674512"/>
                  </a:lnTo>
                  <a:cubicBezTo>
                    <a:pt x="0" y="301989"/>
                    <a:pt x="301989" y="0"/>
                    <a:pt x="674512" y="0"/>
                  </a:cubicBezTo>
                  <a:lnTo>
                    <a:pt x="1779559" y="0"/>
                  </a:lnTo>
                  <a:cubicBezTo>
                    <a:pt x="1958450" y="0"/>
                    <a:pt x="2130015" y="71064"/>
                    <a:pt x="2256511" y="197560"/>
                  </a:cubicBezTo>
                  <a:cubicBezTo>
                    <a:pt x="2383006" y="324056"/>
                    <a:pt x="2454071" y="495620"/>
                    <a:pt x="2454071" y="674512"/>
                  </a:cubicBezTo>
                  <a:close/>
                </a:path>
              </a:pathLst>
            </a:custGeom>
            <a:solidFill>
              <a:srgbClr val="FFC9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4071" cy="1387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916" y="881046"/>
            <a:ext cx="902299" cy="902299"/>
          </a:xfrm>
          <a:custGeom>
            <a:avLst/>
            <a:gdLst/>
            <a:ahLst/>
            <a:cxnLst/>
            <a:rect r="r" b="b" t="t" l="l"/>
            <a:pathLst>
              <a:path h="902299" w="902299">
                <a:moveTo>
                  <a:pt x="0" y="0"/>
                </a:moveTo>
                <a:lnTo>
                  <a:pt x="902299" y="0"/>
                </a:lnTo>
                <a:lnTo>
                  <a:pt x="902299" y="902299"/>
                </a:lnTo>
                <a:lnTo>
                  <a:pt x="0" y="90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3964" y="759317"/>
            <a:ext cx="476717" cy="94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6"/>
              </a:lnSpc>
              <a:spcBef>
                <a:spcPct val="0"/>
              </a:spcBef>
            </a:pPr>
            <a:r>
              <a:rPr lang="en-US" sz="4997">
                <a:solidFill>
                  <a:srgbClr val="F88888"/>
                </a:solidFill>
                <a:latin typeface="Handyman"/>
                <a:ea typeface="Handyman"/>
                <a:cs typeface="Handyman"/>
                <a:sym typeface="Handyman"/>
              </a:rPr>
              <a:t>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8945" y="704850"/>
            <a:ext cx="9670110" cy="29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49"/>
              </a:lnSpc>
              <a:spcBef>
                <a:spcPct val="0"/>
              </a:spcBef>
            </a:pPr>
            <a:r>
              <a:rPr lang="en-US" sz="82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Quais são as funções do app?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35535" y="5352424"/>
            <a:ext cx="14416930" cy="3905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94"/>
              </a:lnSpc>
              <a:spcBef>
                <a:spcPct val="0"/>
              </a:spcBef>
            </a:pPr>
            <a:r>
              <a:rPr lang="en-US" sz="7281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Diário e anotações: um bloco de notas que usa armazenamento local (localStorage) para suas anotações!</a:t>
            </a:r>
          </a:p>
        </p:txBody>
      </p:sp>
    </p:spTree>
  </p:cSld>
  <p:clrMapOvr>
    <a:masterClrMapping/>
  </p:clrMapOvr>
  <p:transition spd="slow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449" y="669078"/>
            <a:ext cx="2412630" cy="1326234"/>
            <a:chOff x="0" y="0"/>
            <a:chExt cx="2454071" cy="1349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071" cy="1349024"/>
            </a:xfrm>
            <a:custGeom>
              <a:avLst/>
              <a:gdLst/>
              <a:ahLst/>
              <a:cxnLst/>
              <a:rect r="r" b="b" t="t" l="l"/>
              <a:pathLst>
                <a:path h="1349024" w="2454071">
                  <a:moveTo>
                    <a:pt x="2454071" y="674512"/>
                  </a:moveTo>
                  <a:lnTo>
                    <a:pt x="2454071" y="674512"/>
                  </a:lnTo>
                  <a:cubicBezTo>
                    <a:pt x="2454071" y="1047035"/>
                    <a:pt x="2152081" y="1349024"/>
                    <a:pt x="1779559" y="1349024"/>
                  </a:cubicBezTo>
                  <a:lnTo>
                    <a:pt x="674512" y="1349024"/>
                  </a:lnTo>
                  <a:cubicBezTo>
                    <a:pt x="301989" y="1349024"/>
                    <a:pt x="0" y="1047035"/>
                    <a:pt x="0" y="674512"/>
                  </a:cubicBezTo>
                  <a:lnTo>
                    <a:pt x="0" y="674512"/>
                  </a:lnTo>
                  <a:cubicBezTo>
                    <a:pt x="0" y="301989"/>
                    <a:pt x="301989" y="0"/>
                    <a:pt x="674512" y="0"/>
                  </a:cubicBezTo>
                  <a:lnTo>
                    <a:pt x="1779559" y="0"/>
                  </a:lnTo>
                  <a:cubicBezTo>
                    <a:pt x="1958450" y="0"/>
                    <a:pt x="2130015" y="71064"/>
                    <a:pt x="2256511" y="197560"/>
                  </a:cubicBezTo>
                  <a:cubicBezTo>
                    <a:pt x="2383006" y="324056"/>
                    <a:pt x="2454071" y="495620"/>
                    <a:pt x="2454071" y="674512"/>
                  </a:cubicBezTo>
                  <a:close/>
                </a:path>
              </a:pathLst>
            </a:custGeom>
            <a:solidFill>
              <a:srgbClr val="FFC9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4071" cy="1387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916" y="881046"/>
            <a:ext cx="902299" cy="902299"/>
          </a:xfrm>
          <a:custGeom>
            <a:avLst/>
            <a:gdLst/>
            <a:ahLst/>
            <a:cxnLst/>
            <a:rect r="r" b="b" t="t" l="l"/>
            <a:pathLst>
              <a:path h="902299" w="902299">
                <a:moveTo>
                  <a:pt x="0" y="0"/>
                </a:moveTo>
                <a:lnTo>
                  <a:pt x="902299" y="0"/>
                </a:lnTo>
                <a:lnTo>
                  <a:pt x="902299" y="902299"/>
                </a:lnTo>
                <a:lnTo>
                  <a:pt x="0" y="90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3964" y="759317"/>
            <a:ext cx="476717" cy="94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6"/>
              </a:lnSpc>
              <a:spcBef>
                <a:spcPct val="0"/>
              </a:spcBef>
            </a:pPr>
            <a:r>
              <a:rPr lang="en-US" sz="4997">
                <a:solidFill>
                  <a:srgbClr val="F88888"/>
                </a:solidFill>
                <a:latin typeface="Handyman"/>
                <a:ea typeface="Handyman"/>
                <a:cs typeface="Handyman"/>
                <a:sym typeface="Handyman"/>
              </a:rPr>
              <a:t>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8945" y="704850"/>
            <a:ext cx="9670110" cy="29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49"/>
              </a:lnSpc>
              <a:spcBef>
                <a:spcPct val="0"/>
              </a:spcBef>
            </a:pPr>
            <a:r>
              <a:rPr lang="en-US" sz="82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Quais são as funções do app?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03964" y="4823072"/>
            <a:ext cx="14280071" cy="443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09"/>
              </a:lnSpc>
              <a:spcBef>
                <a:spcPct val="0"/>
              </a:spcBef>
            </a:pPr>
            <a:r>
              <a:rPr lang="en-US" sz="6221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Rotina gamificada: uma página que contém registro de líquidos e alimentos bons e ruins, registro de peso, exercícios, níveis e conquistas emcima disso!</a:t>
            </a:r>
          </a:p>
        </p:txBody>
      </p:sp>
    </p:spTree>
  </p:cSld>
  <p:clrMapOvr>
    <a:masterClrMapping/>
  </p:clrMapOvr>
  <p:transition spd="slow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449" y="669078"/>
            <a:ext cx="2412630" cy="1326234"/>
            <a:chOff x="0" y="0"/>
            <a:chExt cx="2454071" cy="1349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071" cy="1349024"/>
            </a:xfrm>
            <a:custGeom>
              <a:avLst/>
              <a:gdLst/>
              <a:ahLst/>
              <a:cxnLst/>
              <a:rect r="r" b="b" t="t" l="l"/>
              <a:pathLst>
                <a:path h="1349024" w="2454071">
                  <a:moveTo>
                    <a:pt x="2454071" y="674512"/>
                  </a:moveTo>
                  <a:lnTo>
                    <a:pt x="2454071" y="674512"/>
                  </a:lnTo>
                  <a:cubicBezTo>
                    <a:pt x="2454071" y="1047035"/>
                    <a:pt x="2152081" y="1349024"/>
                    <a:pt x="1779559" y="1349024"/>
                  </a:cubicBezTo>
                  <a:lnTo>
                    <a:pt x="674512" y="1349024"/>
                  </a:lnTo>
                  <a:cubicBezTo>
                    <a:pt x="301989" y="1349024"/>
                    <a:pt x="0" y="1047035"/>
                    <a:pt x="0" y="674512"/>
                  </a:cubicBezTo>
                  <a:lnTo>
                    <a:pt x="0" y="674512"/>
                  </a:lnTo>
                  <a:cubicBezTo>
                    <a:pt x="0" y="301989"/>
                    <a:pt x="301989" y="0"/>
                    <a:pt x="674512" y="0"/>
                  </a:cubicBezTo>
                  <a:lnTo>
                    <a:pt x="1779559" y="0"/>
                  </a:lnTo>
                  <a:cubicBezTo>
                    <a:pt x="1958450" y="0"/>
                    <a:pt x="2130015" y="71064"/>
                    <a:pt x="2256511" y="197560"/>
                  </a:cubicBezTo>
                  <a:cubicBezTo>
                    <a:pt x="2383006" y="324056"/>
                    <a:pt x="2454071" y="495620"/>
                    <a:pt x="2454071" y="674512"/>
                  </a:cubicBezTo>
                  <a:close/>
                </a:path>
              </a:pathLst>
            </a:custGeom>
            <a:solidFill>
              <a:srgbClr val="FFC9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4071" cy="1387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916" y="881046"/>
            <a:ext cx="902299" cy="902299"/>
          </a:xfrm>
          <a:custGeom>
            <a:avLst/>
            <a:gdLst/>
            <a:ahLst/>
            <a:cxnLst/>
            <a:rect r="r" b="b" t="t" l="l"/>
            <a:pathLst>
              <a:path h="902299" w="902299">
                <a:moveTo>
                  <a:pt x="0" y="0"/>
                </a:moveTo>
                <a:lnTo>
                  <a:pt x="902299" y="0"/>
                </a:lnTo>
                <a:lnTo>
                  <a:pt x="902299" y="902299"/>
                </a:lnTo>
                <a:lnTo>
                  <a:pt x="0" y="90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3964" y="759317"/>
            <a:ext cx="476717" cy="94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6"/>
              </a:lnSpc>
              <a:spcBef>
                <a:spcPct val="0"/>
              </a:spcBef>
            </a:pPr>
            <a:r>
              <a:rPr lang="en-US" sz="4997">
                <a:solidFill>
                  <a:srgbClr val="F88888"/>
                </a:solidFill>
                <a:latin typeface="Handyman"/>
                <a:ea typeface="Handyman"/>
                <a:cs typeface="Handyman"/>
                <a:sym typeface="Handyman"/>
              </a:rPr>
              <a:t>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8945" y="704850"/>
            <a:ext cx="9670110" cy="29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49"/>
              </a:lnSpc>
              <a:spcBef>
                <a:spcPct val="0"/>
              </a:spcBef>
            </a:pPr>
            <a:r>
              <a:rPr lang="en-US" sz="82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Quais são as funções do app?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03964" y="4823072"/>
            <a:ext cx="14280071" cy="443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09"/>
              </a:lnSpc>
              <a:spcBef>
                <a:spcPct val="0"/>
              </a:spcBef>
            </a:pPr>
            <a:r>
              <a:rPr lang="en-US" sz="6221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Relógio e localização: uma página que carrega TODOS os horários DE TODOS OS PAÍSES DO MUNDO, e o país onde você mora + horários desse pais!</a:t>
            </a:r>
          </a:p>
        </p:txBody>
      </p:sp>
    </p:spTree>
  </p:cSld>
  <p:clrMapOvr>
    <a:masterClrMapping/>
  </p:clrMapOvr>
  <p:transition spd="slow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449" y="669078"/>
            <a:ext cx="2412630" cy="1326234"/>
            <a:chOff x="0" y="0"/>
            <a:chExt cx="2454071" cy="1349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071" cy="1349024"/>
            </a:xfrm>
            <a:custGeom>
              <a:avLst/>
              <a:gdLst/>
              <a:ahLst/>
              <a:cxnLst/>
              <a:rect r="r" b="b" t="t" l="l"/>
              <a:pathLst>
                <a:path h="1349024" w="2454071">
                  <a:moveTo>
                    <a:pt x="2454071" y="674512"/>
                  </a:moveTo>
                  <a:lnTo>
                    <a:pt x="2454071" y="674512"/>
                  </a:lnTo>
                  <a:cubicBezTo>
                    <a:pt x="2454071" y="1047035"/>
                    <a:pt x="2152081" y="1349024"/>
                    <a:pt x="1779559" y="1349024"/>
                  </a:cubicBezTo>
                  <a:lnTo>
                    <a:pt x="674512" y="1349024"/>
                  </a:lnTo>
                  <a:cubicBezTo>
                    <a:pt x="301989" y="1349024"/>
                    <a:pt x="0" y="1047035"/>
                    <a:pt x="0" y="674512"/>
                  </a:cubicBezTo>
                  <a:lnTo>
                    <a:pt x="0" y="674512"/>
                  </a:lnTo>
                  <a:cubicBezTo>
                    <a:pt x="0" y="301989"/>
                    <a:pt x="301989" y="0"/>
                    <a:pt x="674512" y="0"/>
                  </a:cubicBezTo>
                  <a:lnTo>
                    <a:pt x="1779559" y="0"/>
                  </a:lnTo>
                  <a:cubicBezTo>
                    <a:pt x="1958450" y="0"/>
                    <a:pt x="2130015" y="71064"/>
                    <a:pt x="2256511" y="197560"/>
                  </a:cubicBezTo>
                  <a:cubicBezTo>
                    <a:pt x="2383006" y="324056"/>
                    <a:pt x="2454071" y="495620"/>
                    <a:pt x="2454071" y="674512"/>
                  </a:cubicBezTo>
                  <a:close/>
                </a:path>
              </a:pathLst>
            </a:custGeom>
            <a:solidFill>
              <a:srgbClr val="FFC9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4071" cy="1387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916" y="881046"/>
            <a:ext cx="902299" cy="902299"/>
          </a:xfrm>
          <a:custGeom>
            <a:avLst/>
            <a:gdLst/>
            <a:ahLst/>
            <a:cxnLst/>
            <a:rect r="r" b="b" t="t" l="l"/>
            <a:pathLst>
              <a:path h="902299" w="902299">
                <a:moveTo>
                  <a:pt x="0" y="0"/>
                </a:moveTo>
                <a:lnTo>
                  <a:pt x="902299" y="0"/>
                </a:lnTo>
                <a:lnTo>
                  <a:pt x="902299" y="902299"/>
                </a:lnTo>
                <a:lnTo>
                  <a:pt x="0" y="90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3964" y="759317"/>
            <a:ext cx="476717" cy="94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6"/>
              </a:lnSpc>
              <a:spcBef>
                <a:spcPct val="0"/>
              </a:spcBef>
            </a:pPr>
            <a:r>
              <a:rPr lang="en-US" sz="4997">
                <a:solidFill>
                  <a:srgbClr val="F88888"/>
                </a:solidFill>
                <a:latin typeface="Handyman"/>
                <a:ea typeface="Handyman"/>
                <a:cs typeface="Handyman"/>
                <a:sym typeface="Handyman"/>
              </a:rPr>
              <a:t>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8945" y="704850"/>
            <a:ext cx="9670110" cy="29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49"/>
              </a:lnSpc>
              <a:spcBef>
                <a:spcPct val="0"/>
              </a:spcBef>
            </a:pPr>
            <a:r>
              <a:rPr lang="en-US" sz="82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Quais são as funções do app?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03964" y="5909472"/>
            <a:ext cx="14280071" cy="334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09"/>
              </a:lnSpc>
              <a:spcBef>
                <a:spcPct val="0"/>
              </a:spcBef>
            </a:pPr>
            <a:r>
              <a:rPr lang="en-US" sz="6221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Calculadora: uma página onde é possível fazer as 4 operações básicas da matemática!</a:t>
            </a:r>
          </a:p>
        </p:txBody>
      </p:sp>
    </p:spTree>
  </p:cSld>
  <p:clrMapOvr>
    <a:masterClrMapping/>
  </p:clrMapOvr>
  <p:transition spd="slow">
    <p:push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449" y="669078"/>
            <a:ext cx="2412630" cy="1326234"/>
            <a:chOff x="0" y="0"/>
            <a:chExt cx="2454071" cy="1349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071" cy="1349024"/>
            </a:xfrm>
            <a:custGeom>
              <a:avLst/>
              <a:gdLst/>
              <a:ahLst/>
              <a:cxnLst/>
              <a:rect r="r" b="b" t="t" l="l"/>
              <a:pathLst>
                <a:path h="1349024" w="2454071">
                  <a:moveTo>
                    <a:pt x="2454071" y="674512"/>
                  </a:moveTo>
                  <a:lnTo>
                    <a:pt x="2454071" y="674512"/>
                  </a:lnTo>
                  <a:cubicBezTo>
                    <a:pt x="2454071" y="1047035"/>
                    <a:pt x="2152081" y="1349024"/>
                    <a:pt x="1779559" y="1349024"/>
                  </a:cubicBezTo>
                  <a:lnTo>
                    <a:pt x="674512" y="1349024"/>
                  </a:lnTo>
                  <a:cubicBezTo>
                    <a:pt x="301989" y="1349024"/>
                    <a:pt x="0" y="1047035"/>
                    <a:pt x="0" y="674512"/>
                  </a:cubicBezTo>
                  <a:lnTo>
                    <a:pt x="0" y="674512"/>
                  </a:lnTo>
                  <a:cubicBezTo>
                    <a:pt x="0" y="301989"/>
                    <a:pt x="301989" y="0"/>
                    <a:pt x="674512" y="0"/>
                  </a:cubicBezTo>
                  <a:lnTo>
                    <a:pt x="1779559" y="0"/>
                  </a:lnTo>
                  <a:cubicBezTo>
                    <a:pt x="1958450" y="0"/>
                    <a:pt x="2130015" y="71064"/>
                    <a:pt x="2256511" y="197560"/>
                  </a:cubicBezTo>
                  <a:cubicBezTo>
                    <a:pt x="2383006" y="324056"/>
                    <a:pt x="2454071" y="495620"/>
                    <a:pt x="2454071" y="674512"/>
                  </a:cubicBezTo>
                  <a:close/>
                </a:path>
              </a:pathLst>
            </a:custGeom>
            <a:solidFill>
              <a:srgbClr val="FFC9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4071" cy="1387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916" y="881046"/>
            <a:ext cx="902299" cy="902299"/>
          </a:xfrm>
          <a:custGeom>
            <a:avLst/>
            <a:gdLst/>
            <a:ahLst/>
            <a:cxnLst/>
            <a:rect r="r" b="b" t="t" l="l"/>
            <a:pathLst>
              <a:path h="902299" w="902299">
                <a:moveTo>
                  <a:pt x="0" y="0"/>
                </a:moveTo>
                <a:lnTo>
                  <a:pt x="902299" y="0"/>
                </a:lnTo>
                <a:lnTo>
                  <a:pt x="902299" y="902299"/>
                </a:lnTo>
                <a:lnTo>
                  <a:pt x="0" y="90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3964" y="759317"/>
            <a:ext cx="476717" cy="94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6"/>
              </a:lnSpc>
              <a:spcBef>
                <a:spcPct val="0"/>
              </a:spcBef>
            </a:pPr>
            <a:r>
              <a:rPr lang="en-US" sz="4997">
                <a:solidFill>
                  <a:srgbClr val="F88888"/>
                </a:solidFill>
                <a:latin typeface="Handyman"/>
                <a:ea typeface="Handyman"/>
                <a:cs typeface="Handyman"/>
                <a:sym typeface="Handyman"/>
              </a:rPr>
              <a:t>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8945" y="704850"/>
            <a:ext cx="9670110" cy="29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49"/>
              </a:lnSpc>
              <a:spcBef>
                <a:spcPct val="0"/>
              </a:spcBef>
            </a:pPr>
            <a:r>
              <a:rPr lang="en-US" sz="82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Quais são as funções do app?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03964" y="5909472"/>
            <a:ext cx="14280071" cy="334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09"/>
              </a:lnSpc>
              <a:spcBef>
                <a:spcPct val="0"/>
              </a:spcBef>
            </a:pPr>
            <a:r>
              <a:rPr lang="en-US" sz="6221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Minhas tarefas: uma página onde é possivel registrar tarefas divididas em categorias + o método pomodoro na página!</a:t>
            </a:r>
          </a:p>
        </p:txBody>
      </p:sp>
    </p:spTree>
  </p:cSld>
  <p:clrMapOvr>
    <a:masterClrMapping/>
  </p:clrMapOvr>
  <p:transition spd="slow">
    <p:push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449" y="669078"/>
            <a:ext cx="2412630" cy="1326234"/>
            <a:chOff x="0" y="0"/>
            <a:chExt cx="2454071" cy="1349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071" cy="1349024"/>
            </a:xfrm>
            <a:custGeom>
              <a:avLst/>
              <a:gdLst/>
              <a:ahLst/>
              <a:cxnLst/>
              <a:rect r="r" b="b" t="t" l="l"/>
              <a:pathLst>
                <a:path h="1349024" w="2454071">
                  <a:moveTo>
                    <a:pt x="2454071" y="674512"/>
                  </a:moveTo>
                  <a:lnTo>
                    <a:pt x="2454071" y="674512"/>
                  </a:lnTo>
                  <a:cubicBezTo>
                    <a:pt x="2454071" y="1047035"/>
                    <a:pt x="2152081" y="1349024"/>
                    <a:pt x="1779559" y="1349024"/>
                  </a:cubicBezTo>
                  <a:lnTo>
                    <a:pt x="674512" y="1349024"/>
                  </a:lnTo>
                  <a:cubicBezTo>
                    <a:pt x="301989" y="1349024"/>
                    <a:pt x="0" y="1047035"/>
                    <a:pt x="0" y="674512"/>
                  </a:cubicBezTo>
                  <a:lnTo>
                    <a:pt x="0" y="674512"/>
                  </a:lnTo>
                  <a:cubicBezTo>
                    <a:pt x="0" y="301989"/>
                    <a:pt x="301989" y="0"/>
                    <a:pt x="674512" y="0"/>
                  </a:cubicBezTo>
                  <a:lnTo>
                    <a:pt x="1779559" y="0"/>
                  </a:lnTo>
                  <a:cubicBezTo>
                    <a:pt x="1958450" y="0"/>
                    <a:pt x="2130015" y="71064"/>
                    <a:pt x="2256511" y="197560"/>
                  </a:cubicBezTo>
                  <a:cubicBezTo>
                    <a:pt x="2383006" y="324056"/>
                    <a:pt x="2454071" y="495620"/>
                    <a:pt x="2454071" y="674512"/>
                  </a:cubicBezTo>
                  <a:close/>
                </a:path>
              </a:pathLst>
            </a:custGeom>
            <a:solidFill>
              <a:srgbClr val="FFC9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4071" cy="1387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916" y="881046"/>
            <a:ext cx="902299" cy="902299"/>
          </a:xfrm>
          <a:custGeom>
            <a:avLst/>
            <a:gdLst/>
            <a:ahLst/>
            <a:cxnLst/>
            <a:rect r="r" b="b" t="t" l="l"/>
            <a:pathLst>
              <a:path h="902299" w="902299">
                <a:moveTo>
                  <a:pt x="0" y="0"/>
                </a:moveTo>
                <a:lnTo>
                  <a:pt x="902299" y="0"/>
                </a:lnTo>
                <a:lnTo>
                  <a:pt x="902299" y="902299"/>
                </a:lnTo>
                <a:lnTo>
                  <a:pt x="0" y="90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3964" y="759317"/>
            <a:ext cx="476717" cy="94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6"/>
              </a:lnSpc>
              <a:spcBef>
                <a:spcPct val="0"/>
              </a:spcBef>
            </a:pPr>
            <a:r>
              <a:rPr lang="en-US" sz="4997">
                <a:solidFill>
                  <a:srgbClr val="F88888"/>
                </a:solidFill>
                <a:latin typeface="Handyman"/>
                <a:ea typeface="Handyman"/>
                <a:cs typeface="Handyman"/>
                <a:sym typeface="Handyman"/>
              </a:rPr>
              <a:t>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8945" y="704850"/>
            <a:ext cx="9670110" cy="29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49"/>
              </a:lnSpc>
              <a:spcBef>
                <a:spcPct val="0"/>
              </a:spcBef>
            </a:pPr>
            <a:r>
              <a:rPr lang="en-US" sz="82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Quais são as funções do app?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08945" y="4822278"/>
            <a:ext cx="9670110" cy="4436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76"/>
              </a:lnSpc>
            </a:pPr>
            <a:r>
              <a:rPr lang="en-US" sz="8268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Funções em outras telas</a:t>
            </a:r>
          </a:p>
          <a:p>
            <a:pPr algn="ctr" marL="0" indent="0" lvl="0">
              <a:lnSpc>
                <a:spcPts val="11576"/>
              </a:lnSpc>
              <a:spcBef>
                <a:spcPct val="0"/>
              </a:spcBef>
            </a:pPr>
            <a:r>
              <a:rPr lang="en-US" sz="8268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(Activitys)</a:t>
            </a:r>
          </a:p>
        </p:txBody>
      </p:sp>
    </p:spTree>
  </p:cSld>
  <p:clrMapOvr>
    <a:masterClrMapping/>
  </p:clrMapOvr>
  <p:transition spd="slow">
    <p:push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449" y="669078"/>
            <a:ext cx="2412630" cy="1326234"/>
            <a:chOff x="0" y="0"/>
            <a:chExt cx="2454071" cy="1349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071" cy="1349024"/>
            </a:xfrm>
            <a:custGeom>
              <a:avLst/>
              <a:gdLst/>
              <a:ahLst/>
              <a:cxnLst/>
              <a:rect r="r" b="b" t="t" l="l"/>
              <a:pathLst>
                <a:path h="1349024" w="2454071">
                  <a:moveTo>
                    <a:pt x="2454071" y="674512"/>
                  </a:moveTo>
                  <a:lnTo>
                    <a:pt x="2454071" y="674512"/>
                  </a:lnTo>
                  <a:cubicBezTo>
                    <a:pt x="2454071" y="1047035"/>
                    <a:pt x="2152081" y="1349024"/>
                    <a:pt x="1779559" y="1349024"/>
                  </a:cubicBezTo>
                  <a:lnTo>
                    <a:pt x="674512" y="1349024"/>
                  </a:lnTo>
                  <a:cubicBezTo>
                    <a:pt x="301989" y="1349024"/>
                    <a:pt x="0" y="1047035"/>
                    <a:pt x="0" y="674512"/>
                  </a:cubicBezTo>
                  <a:lnTo>
                    <a:pt x="0" y="674512"/>
                  </a:lnTo>
                  <a:cubicBezTo>
                    <a:pt x="0" y="301989"/>
                    <a:pt x="301989" y="0"/>
                    <a:pt x="674512" y="0"/>
                  </a:cubicBezTo>
                  <a:lnTo>
                    <a:pt x="1779559" y="0"/>
                  </a:lnTo>
                  <a:cubicBezTo>
                    <a:pt x="1958450" y="0"/>
                    <a:pt x="2130015" y="71064"/>
                    <a:pt x="2256511" y="197560"/>
                  </a:cubicBezTo>
                  <a:cubicBezTo>
                    <a:pt x="2383006" y="324056"/>
                    <a:pt x="2454071" y="495620"/>
                    <a:pt x="2454071" y="674512"/>
                  </a:cubicBezTo>
                  <a:close/>
                </a:path>
              </a:pathLst>
            </a:custGeom>
            <a:solidFill>
              <a:srgbClr val="FFC9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4071" cy="1387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916" y="881046"/>
            <a:ext cx="902299" cy="902299"/>
          </a:xfrm>
          <a:custGeom>
            <a:avLst/>
            <a:gdLst/>
            <a:ahLst/>
            <a:cxnLst/>
            <a:rect r="r" b="b" t="t" l="l"/>
            <a:pathLst>
              <a:path h="902299" w="902299">
                <a:moveTo>
                  <a:pt x="0" y="0"/>
                </a:moveTo>
                <a:lnTo>
                  <a:pt x="902299" y="0"/>
                </a:lnTo>
                <a:lnTo>
                  <a:pt x="902299" y="902299"/>
                </a:lnTo>
                <a:lnTo>
                  <a:pt x="0" y="90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3964" y="759317"/>
            <a:ext cx="476717" cy="94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6"/>
              </a:lnSpc>
              <a:spcBef>
                <a:spcPct val="0"/>
              </a:spcBef>
            </a:pPr>
            <a:r>
              <a:rPr lang="en-US" sz="4997">
                <a:solidFill>
                  <a:srgbClr val="F88888"/>
                </a:solidFill>
                <a:latin typeface="Handyman"/>
                <a:ea typeface="Handyman"/>
                <a:cs typeface="Handyman"/>
                <a:sym typeface="Handyman"/>
              </a:rPr>
              <a:t>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8945" y="704850"/>
            <a:ext cx="9670110" cy="29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49"/>
              </a:lnSpc>
              <a:spcBef>
                <a:spcPct val="0"/>
              </a:spcBef>
            </a:pPr>
            <a:r>
              <a:rPr lang="en-US" sz="82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Quais são as funções do app?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78763" y="4796288"/>
            <a:ext cx="15222657" cy="4462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85"/>
              </a:lnSpc>
              <a:spcBef>
                <a:spcPct val="0"/>
              </a:spcBef>
            </a:pPr>
            <a:r>
              <a:rPr lang="en-US" sz="6275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Gravador de voz: uma tela que contém um gravador de voz com apenas gravações que ficam NO APP, sendo impossível de baixar, serve como registro de evidências!</a:t>
            </a:r>
          </a:p>
        </p:txBody>
      </p:sp>
    </p:spTree>
  </p:cSld>
  <p:clrMapOvr>
    <a:masterClrMapping/>
  </p:clrMapOvr>
  <p:transition spd="slow">
    <p:push dir="l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449" y="669078"/>
            <a:ext cx="2412630" cy="1326234"/>
            <a:chOff x="0" y="0"/>
            <a:chExt cx="2454071" cy="1349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071" cy="1349024"/>
            </a:xfrm>
            <a:custGeom>
              <a:avLst/>
              <a:gdLst/>
              <a:ahLst/>
              <a:cxnLst/>
              <a:rect r="r" b="b" t="t" l="l"/>
              <a:pathLst>
                <a:path h="1349024" w="2454071">
                  <a:moveTo>
                    <a:pt x="2454071" y="674512"/>
                  </a:moveTo>
                  <a:lnTo>
                    <a:pt x="2454071" y="674512"/>
                  </a:lnTo>
                  <a:cubicBezTo>
                    <a:pt x="2454071" y="1047035"/>
                    <a:pt x="2152081" y="1349024"/>
                    <a:pt x="1779559" y="1349024"/>
                  </a:cubicBezTo>
                  <a:lnTo>
                    <a:pt x="674512" y="1349024"/>
                  </a:lnTo>
                  <a:cubicBezTo>
                    <a:pt x="301989" y="1349024"/>
                    <a:pt x="0" y="1047035"/>
                    <a:pt x="0" y="674512"/>
                  </a:cubicBezTo>
                  <a:lnTo>
                    <a:pt x="0" y="674512"/>
                  </a:lnTo>
                  <a:cubicBezTo>
                    <a:pt x="0" y="301989"/>
                    <a:pt x="301989" y="0"/>
                    <a:pt x="674512" y="0"/>
                  </a:cubicBezTo>
                  <a:lnTo>
                    <a:pt x="1779559" y="0"/>
                  </a:lnTo>
                  <a:cubicBezTo>
                    <a:pt x="1958450" y="0"/>
                    <a:pt x="2130015" y="71064"/>
                    <a:pt x="2256511" y="197560"/>
                  </a:cubicBezTo>
                  <a:cubicBezTo>
                    <a:pt x="2383006" y="324056"/>
                    <a:pt x="2454071" y="495620"/>
                    <a:pt x="2454071" y="674512"/>
                  </a:cubicBezTo>
                  <a:close/>
                </a:path>
              </a:pathLst>
            </a:custGeom>
            <a:solidFill>
              <a:srgbClr val="FFC9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4071" cy="1387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916" y="881046"/>
            <a:ext cx="902299" cy="902299"/>
          </a:xfrm>
          <a:custGeom>
            <a:avLst/>
            <a:gdLst/>
            <a:ahLst/>
            <a:cxnLst/>
            <a:rect r="r" b="b" t="t" l="l"/>
            <a:pathLst>
              <a:path h="902299" w="902299">
                <a:moveTo>
                  <a:pt x="0" y="0"/>
                </a:moveTo>
                <a:lnTo>
                  <a:pt x="902299" y="0"/>
                </a:lnTo>
                <a:lnTo>
                  <a:pt x="902299" y="902299"/>
                </a:lnTo>
                <a:lnTo>
                  <a:pt x="0" y="90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3964" y="759317"/>
            <a:ext cx="476717" cy="94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6"/>
              </a:lnSpc>
              <a:spcBef>
                <a:spcPct val="0"/>
              </a:spcBef>
            </a:pPr>
            <a:r>
              <a:rPr lang="en-US" sz="4997">
                <a:solidFill>
                  <a:srgbClr val="F88888"/>
                </a:solidFill>
                <a:latin typeface="Handyman"/>
                <a:ea typeface="Handyman"/>
                <a:cs typeface="Handyman"/>
                <a:sym typeface="Handyman"/>
              </a:rPr>
              <a:t>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8945" y="704850"/>
            <a:ext cx="9670110" cy="29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49"/>
              </a:lnSpc>
              <a:spcBef>
                <a:spcPct val="0"/>
              </a:spcBef>
            </a:pPr>
            <a:r>
              <a:rPr lang="en-US" sz="82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Quais são as funções do app?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78763" y="5892107"/>
            <a:ext cx="15222657" cy="3366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85"/>
              </a:lnSpc>
              <a:spcBef>
                <a:spcPct val="0"/>
              </a:spcBef>
            </a:pPr>
            <a:r>
              <a:rPr lang="en-US" sz="6275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Meus arquivos: um visualizador de arquivos, executa os arquivos abrindo um seletor de apps!</a:t>
            </a:r>
          </a:p>
        </p:txBody>
      </p:sp>
    </p:spTree>
  </p:cSld>
  <p:clrMapOvr>
    <a:masterClrMapping/>
  </p:clrMapOvr>
  <p:transition spd="slow">
    <p:push dir="l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449" y="669078"/>
            <a:ext cx="2412630" cy="1326234"/>
            <a:chOff x="0" y="0"/>
            <a:chExt cx="2454071" cy="1349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071" cy="1349024"/>
            </a:xfrm>
            <a:custGeom>
              <a:avLst/>
              <a:gdLst/>
              <a:ahLst/>
              <a:cxnLst/>
              <a:rect r="r" b="b" t="t" l="l"/>
              <a:pathLst>
                <a:path h="1349024" w="2454071">
                  <a:moveTo>
                    <a:pt x="2454071" y="674512"/>
                  </a:moveTo>
                  <a:lnTo>
                    <a:pt x="2454071" y="674512"/>
                  </a:lnTo>
                  <a:cubicBezTo>
                    <a:pt x="2454071" y="1047035"/>
                    <a:pt x="2152081" y="1349024"/>
                    <a:pt x="1779559" y="1349024"/>
                  </a:cubicBezTo>
                  <a:lnTo>
                    <a:pt x="674512" y="1349024"/>
                  </a:lnTo>
                  <a:cubicBezTo>
                    <a:pt x="301989" y="1349024"/>
                    <a:pt x="0" y="1047035"/>
                    <a:pt x="0" y="674512"/>
                  </a:cubicBezTo>
                  <a:lnTo>
                    <a:pt x="0" y="674512"/>
                  </a:lnTo>
                  <a:cubicBezTo>
                    <a:pt x="0" y="301989"/>
                    <a:pt x="301989" y="0"/>
                    <a:pt x="674512" y="0"/>
                  </a:cubicBezTo>
                  <a:lnTo>
                    <a:pt x="1779559" y="0"/>
                  </a:lnTo>
                  <a:cubicBezTo>
                    <a:pt x="1958450" y="0"/>
                    <a:pt x="2130015" y="71064"/>
                    <a:pt x="2256511" y="197560"/>
                  </a:cubicBezTo>
                  <a:cubicBezTo>
                    <a:pt x="2383006" y="324056"/>
                    <a:pt x="2454071" y="495620"/>
                    <a:pt x="2454071" y="674512"/>
                  </a:cubicBezTo>
                  <a:close/>
                </a:path>
              </a:pathLst>
            </a:custGeom>
            <a:solidFill>
              <a:srgbClr val="FFC9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4071" cy="1387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916" y="881046"/>
            <a:ext cx="902299" cy="902299"/>
          </a:xfrm>
          <a:custGeom>
            <a:avLst/>
            <a:gdLst/>
            <a:ahLst/>
            <a:cxnLst/>
            <a:rect r="r" b="b" t="t" l="l"/>
            <a:pathLst>
              <a:path h="902299" w="902299">
                <a:moveTo>
                  <a:pt x="0" y="0"/>
                </a:moveTo>
                <a:lnTo>
                  <a:pt x="902299" y="0"/>
                </a:lnTo>
                <a:lnTo>
                  <a:pt x="902299" y="902299"/>
                </a:lnTo>
                <a:lnTo>
                  <a:pt x="0" y="90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3964" y="759317"/>
            <a:ext cx="476717" cy="94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6"/>
              </a:lnSpc>
              <a:spcBef>
                <a:spcPct val="0"/>
              </a:spcBef>
            </a:pPr>
            <a:r>
              <a:rPr lang="en-US" sz="4997">
                <a:solidFill>
                  <a:srgbClr val="F88888"/>
                </a:solidFill>
                <a:latin typeface="Handyman"/>
                <a:ea typeface="Handyman"/>
                <a:cs typeface="Handyman"/>
                <a:sym typeface="Handyman"/>
              </a:rPr>
              <a:t>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8945" y="704850"/>
            <a:ext cx="9670110" cy="29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49"/>
              </a:lnSpc>
              <a:spcBef>
                <a:spcPct val="0"/>
              </a:spcBef>
            </a:pPr>
            <a:r>
              <a:rPr lang="en-US" sz="82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Quais são as funções do app?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80681" y="4964815"/>
            <a:ext cx="13818821" cy="429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84"/>
              </a:lnSpc>
            </a:pPr>
            <a:r>
              <a:rPr lang="en-US" sz="11845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Saindo do app, </a:t>
            </a:r>
          </a:p>
          <a:p>
            <a:pPr algn="ctr" marL="0" indent="0" lvl="0">
              <a:lnSpc>
                <a:spcPts val="16584"/>
              </a:lnSpc>
              <a:spcBef>
                <a:spcPct val="0"/>
              </a:spcBef>
            </a:pPr>
            <a:r>
              <a:rPr lang="en-US" sz="11845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temos...</a:t>
            </a:r>
          </a:p>
        </p:txBody>
      </p:sp>
    </p:spTree>
  </p:cSld>
  <p:clrMapOvr>
    <a:masterClrMapping/>
  </p:clrMapOvr>
  <p:transition spd="slow">
    <p:push dir="l"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449" y="669078"/>
            <a:ext cx="2412630" cy="1326234"/>
            <a:chOff x="0" y="0"/>
            <a:chExt cx="2454071" cy="1349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071" cy="1349024"/>
            </a:xfrm>
            <a:custGeom>
              <a:avLst/>
              <a:gdLst/>
              <a:ahLst/>
              <a:cxnLst/>
              <a:rect r="r" b="b" t="t" l="l"/>
              <a:pathLst>
                <a:path h="1349024" w="2454071">
                  <a:moveTo>
                    <a:pt x="2454071" y="674512"/>
                  </a:moveTo>
                  <a:lnTo>
                    <a:pt x="2454071" y="674512"/>
                  </a:lnTo>
                  <a:cubicBezTo>
                    <a:pt x="2454071" y="1047035"/>
                    <a:pt x="2152081" y="1349024"/>
                    <a:pt x="1779559" y="1349024"/>
                  </a:cubicBezTo>
                  <a:lnTo>
                    <a:pt x="674512" y="1349024"/>
                  </a:lnTo>
                  <a:cubicBezTo>
                    <a:pt x="301989" y="1349024"/>
                    <a:pt x="0" y="1047035"/>
                    <a:pt x="0" y="674512"/>
                  </a:cubicBezTo>
                  <a:lnTo>
                    <a:pt x="0" y="674512"/>
                  </a:lnTo>
                  <a:cubicBezTo>
                    <a:pt x="0" y="301989"/>
                    <a:pt x="301989" y="0"/>
                    <a:pt x="674512" y="0"/>
                  </a:cubicBezTo>
                  <a:lnTo>
                    <a:pt x="1779559" y="0"/>
                  </a:lnTo>
                  <a:cubicBezTo>
                    <a:pt x="1958450" y="0"/>
                    <a:pt x="2130015" y="71064"/>
                    <a:pt x="2256511" y="197560"/>
                  </a:cubicBezTo>
                  <a:cubicBezTo>
                    <a:pt x="2383006" y="324056"/>
                    <a:pt x="2454071" y="495620"/>
                    <a:pt x="2454071" y="674512"/>
                  </a:cubicBezTo>
                  <a:close/>
                </a:path>
              </a:pathLst>
            </a:custGeom>
            <a:solidFill>
              <a:srgbClr val="FFC9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4071" cy="1387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916" y="881046"/>
            <a:ext cx="902299" cy="902299"/>
          </a:xfrm>
          <a:custGeom>
            <a:avLst/>
            <a:gdLst/>
            <a:ahLst/>
            <a:cxnLst/>
            <a:rect r="r" b="b" t="t" l="l"/>
            <a:pathLst>
              <a:path h="902299" w="902299">
                <a:moveTo>
                  <a:pt x="0" y="0"/>
                </a:moveTo>
                <a:lnTo>
                  <a:pt x="902299" y="0"/>
                </a:lnTo>
                <a:lnTo>
                  <a:pt x="902299" y="902299"/>
                </a:lnTo>
                <a:lnTo>
                  <a:pt x="0" y="90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3964" y="759317"/>
            <a:ext cx="476717" cy="94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6"/>
              </a:lnSpc>
              <a:spcBef>
                <a:spcPct val="0"/>
              </a:spcBef>
            </a:pPr>
            <a:r>
              <a:rPr lang="en-US" sz="4997">
                <a:solidFill>
                  <a:srgbClr val="F88888"/>
                </a:solidFill>
                <a:latin typeface="Handyman"/>
                <a:ea typeface="Handyman"/>
                <a:cs typeface="Handyman"/>
                <a:sym typeface="Handyman"/>
              </a:rPr>
              <a:t>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8945" y="704850"/>
            <a:ext cx="9670110" cy="29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49"/>
              </a:lnSpc>
              <a:spcBef>
                <a:spcPct val="0"/>
              </a:spcBef>
            </a:pPr>
            <a:r>
              <a:rPr lang="en-US" sz="82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Quais são as funções do app?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72298" y="4256753"/>
            <a:ext cx="13943405" cy="5001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30"/>
              </a:lnSpc>
              <a:spcBef>
                <a:spcPct val="0"/>
              </a:spcBef>
            </a:pPr>
            <a:r>
              <a:rPr lang="en-US" sz="9307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Widget de SOS: ao clicar nele, abre o app de telefone já discado no 180!</a:t>
            </a:r>
          </a:p>
        </p:txBody>
      </p:sp>
    </p:spTree>
  </p:cSld>
  <p:clrMapOvr>
    <a:masterClrMapping/>
  </p:clrMapOvr>
  <p:transition spd="slow">
    <p:push dir="l"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449" y="669078"/>
            <a:ext cx="2412630" cy="1326234"/>
            <a:chOff x="0" y="0"/>
            <a:chExt cx="2454071" cy="1349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071" cy="1349024"/>
            </a:xfrm>
            <a:custGeom>
              <a:avLst/>
              <a:gdLst/>
              <a:ahLst/>
              <a:cxnLst/>
              <a:rect r="r" b="b" t="t" l="l"/>
              <a:pathLst>
                <a:path h="1349024" w="2454071">
                  <a:moveTo>
                    <a:pt x="2454071" y="674512"/>
                  </a:moveTo>
                  <a:lnTo>
                    <a:pt x="2454071" y="674512"/>
                  </a:lnTo>
                  <a:cubicBezTo>
                    <a:pt x="2454071" y="1047035"/>
                    <a:pt x="2152081" y="1349024"/>
                    <a:pt x="1779559" y="1349024"/>
                  </a:cubicBezTo>
                  <a:lnTo>
                    <a:pt x="674512" y="1349024"/>
                  </a:lnTo>
                  <a:cubicBezTo>
                    <a:pt x="301989" y="1349024"/>
                    <a:pt x="0" y="1047035"/>
                    <a:pt x="0" y="674512"/>
                  </a:cubicBezTo>
                  <a:lnTo>
                    <a:pt x="0" y="674512"/>
                  </a:lnTo>
                  <a:cubicBezTo>
                    <a:pt x="0" y="301989"/>
                    <a:pt x="301989" y="0"/>
                    <a:pt x="674512" y="0"/>
                  </a:cubicBezTo>
                  <a:lnTo>
                    <a:pt x="1779559" y="0"/>
                  </a:lnTo>
                  <a:cubicBezTo>
                    <a:pt x="1958450" y="0"/>
                    <a:pt x="2130015" y="71064"/>
                    <a:pt x="2256511" y="197560"/>
                  </a:cubicBezTo>
                  <a:cubicBezTo>
                    <a:pt x="2383006" y="324056"/>
                    <a:pt x="2454071" y="495620"/>
                    <a:pt x="2454071" y="674512"/>
                  </a:cubicBezTo>
                  <a:close/>
                </a:path>
              </a:pathLst>
            </a:custGeom>
            <a:solidFill>
              <a:srgbClr val="FFC9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4071" cy="1387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916" y="881046"/>
            <a:ext cx="902299" cy="902299"/>
          </a:xfrm>
          <a:custGeom>
            <a:avLst/>
            <a:gdLst/>
            <a:ahLst/>
            <a:cxnLst/>
            <a:rect r="r" b="b" t="t" l="l"/>
            <a:pathLst>
              <a:path h="902299" w="902299">
                <a:moveTo>
                  <a:pt x="0" y="0"/>
                </a:moveTo>
                <a:lnTo>
                  <a:pt x="902299" y="0"/>
                </a:lnTo>
                <a:lnTo>
                  <a:pt x="902299" y="902299"/>
                </a:lnTo>
                <a:lnTo>
                  <a:pt x="0" y="90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3964" y="759317"/>
            <a:ext cx="476717" cy="94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6"/>
              </a:lnSpc>
              <a:spcBef>
                <a:spcPct val="0"/>
              </a:spcBef>
            </a:pPr>
            <a:r>
              <a:rPr lang="en-US" sz="4997">
                <a:solidFill>
                  <a:srgbClr val="F88888"/>
                </a:solidFill>
                <a:latin typeface="Handyman"/>
                <a:ea typeface="Handyman"/>
                <a:cs typeface="Handyman"/>
                <a:sym typeface="Handyman"/>
              </a:rPr>
              <a:t>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8945" y="704850"/>
            <a:ext cx="9670110" cy="29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49"/>
              </a:lnSpc>
              <a:spcBef>
                <a:spcPct val="0"/>
              </a:spcBef>
            </a:pPr>
            <a:r>
              <a:rPr lang="en-US" sz="82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Quais são as funções do app?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80681" y="4258475"/>
            <a:ext cx="13326637" cy="499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44"/>
              </a:lnSpc>
              <a:spcBef>
                <a:spcPct val="0"/>
              </a:spcBef>
            </a:pPr>
            <a:r>
              <a:rPr lang="en-US" sz="7031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Widget de localização: ao clicar nele, cria um link do Google Maps e abre o WhatsApp para enviar ele para quem a usuária quiser!</a:t>
            </a:r>
          </a:p>
        </p:txBody>
      </p:sp>
    </p:spTree>
  </p:cSld>
  <p:clrMapOvr>
    <a:masterClrMapping/>
  </p:clrMapOvr>
  <p:transition spd="slow">
    <p:push dir="l"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449" y="669078"/>
            <a:ext cx="2412630" cy="1326234"/>
            <a:chOff x="0" y="0"/>
            <a:chExt cx="2454071" cy="1349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071" cy="1349024"/>
            </a:xfrm>
            <a:custGeom>
              <a:avLst/>
              <a:gdLst/>
              <a:ahLst/>
              <a:cxnLst/>
              <a:rect r="r" b="b" t="t" l="l"/>
              <a:pathLst>
                <a:path h="1349024" w="2454071">
                  <a:moveTo>
                    <a:pt x="2454071" y="674512"/>
                  </a:moveTo>
                  <a:lnTo>
                    <a:pt x="2454071" y="674512"/>
                  </a:lnTo>
                  <a:cubicBezTo>
                    <a:pt x="2454071" y="1047035"/>
                    <a:pt x="2152081" y="1349024"/>
                    <a:pt x="1779559" y="1349024"/>
                  </a:cubicBezTo>
                  <a:lnTo>
                    <a:pt x="674512" y="1349024"/>
                  </a:lnTo>
                  <a:cubicBezTo>
                    <a:pt x="301989" y="1349024"/>
                    <a:pt x="0" y="1047035"/>
                    <a:pt x="0" y="674512"/>
                  </a:cubicBezTo>
                  <a:lnTo>
                    <a:pt x="0" y="674512"/>
                  </a:lnTo>
                  <a:cubicBezTo>
                    <a:pt x="0" y="301989"/>
                    <a:pt x="301989" y="0"/>
                    <a:pt x="674512" y="0"/>
                  </a:cubicBezTo>
                  <a:lnTo>
                    <a:pt x="1779559" y="0"/>
                  </a:lnTo>
                  <a:cubicBezTo>
                    <a:pt x="1958450" y="0"/>
                    <a:pt x="2130015" y="71064"/>
                    <a:pt x="2256511" y="197560"/>
                  </a:cubicBezTo>
                  <a:cubicBezTo>
                    <a:pt x="2383006" y="324056"/>
                    <a:pt x="2454071" y="495620"/>
                    <a:pt x="2454071" y="674512"/>
                  </a:cubicBezTo>
                  <a:close/>
                </a:path>
              </a:pathLst>
            </a:custGeom>
            <a:solidFill>
              <a:srgbClr val="FFC9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4071" cy="1387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916" y="881046"/>
            <a:ext cx="902299" cy="902299"/>
          </a:xfrm>
          <a:custGeom>
            <a:avLst/>
            <a:gdLst/>
            <a:ahLst/>
            <a:cxnLst/>
            <a:rect r="r" b="b" t="t" l="l"/>
            <a:pathLst>
              <a:path h="902299" w="902299">
                <a:moveTo>
                  <a:pt x="0" y="0"/>
                </a:moveTo>
                <a:lnTo>
                  <a:pt x="902299" y="0"/>
                </a:lnTo>
                <a:lnTo>
                  <a:pt x="902299" y="902299"/>
                </a:lnTo>
                <a:lnTo>
                  <a:pt x="0" y="90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3964" y="759317"/>
            <a:ext cx="476717" cy="94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6"/>
              </a:lnSpc>
              <a:spcBef>
                <a:spcPct val="0"/>
              </a:spcBef>
            </a:pPr>
            <a:r>
              <a:rPr lang="en-US" sz="4997">
                <a:solidFill>
                  <a:srgbClr val="F88888"/>
                </a:solidFill>
                <a:latin typeface="Handyman"/>
                <a:ea typeface="Handyman"/>
                <a:cs typeface="Handyman"/>
                <a:sym typeface="Handyman"/>
              </a:rPr>
              <a:t>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8945" y="704850"/>
            <a:ext cx="9670110" cy="29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49"/>
              </a:lnSpc>
              <a:spcBef>
                <a:spcPct val="0"/>
              </a:spcBef>
            </a:pPr>
            <a:r>
              <a:rPr lang="en-US" sz="82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Quais são as funções do app?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80681" y="5486409"/>
            <a:ext cx="13326637" cy="3771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44"/>
              </a:lnSpc>
              <a:spcBef>
                <a:spcPct val="0"/>
              </a:spcBef>
            </a:pPr>
            <a:r>
              <a:rPr lang="en-US" sz="7031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Widget de palmas: ao clicar, abre o app onde existe a proteção por barulho/palmas</a:t>
            </a:r>
          </a:p>
        </p:txBody>
      </p:sp>
    </p:spTree>
  </p:cSld>
  <p:clrMapOvr>
    <a:masterClrMapping/>
  </p:clrMapOvr>
  <p:transition spd="slow">
    <p:push dir="l"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449" y="669078"/>
            <a:ext cx="2412630" cy="1326234"/>
            <a:chOff x="0" y="0"/>
            <a:chExt cx="2454071" cy="1349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071" cy="1349024"/>
            </a:xfrm>
            <a:custGeom>
              <a:avLst/>
              <a:gdLst/>
              <a:ahLst/>
              <a:cxnLst/>
              <a:rect r="r" b="b" t="t" l="l"/>
              <a:pathLst>
                <a:path h="1349024" w="2454071">
                  <a:moveTo>
                    <a:pt x="2454071" y="674512"/>
                  </a:moveTo>
                  <a:lnTo>
                    <a:pt x="2454071" y="674512"/>
                  </a:lnTo>
                  <a:cubicBezTo>
                    <a:pt x="2454071" y="1047035"/>
                    <a:pt x="2152081" y="1349024"/>
                    <a:pt x="1779559" y="1349024"/>
                  </a:cubicBezTo>
                  <a:lnTo>
                    <a:pt x="674512" y="1349024"/>
                  </a:lnTo>
                  <a:cubicBezTo>
                    <a:pt x="301989" y="1349024"/>
                    <a:pt x="0" y="1047035"/>
                    <a:pt x="0" y="674512"/>
                  </a:cubicBezTo>
                  <a:lnTo>
                    <a:pt x="0" y="674512"/>
                  </a:lnTo>
                  <a:cubicBezTo>
                    <a:pt x="0" y="301989"/>
                    <a:pt x="301989" y="0"/>
                    <a:pt x="674512" y="0"/>
                  </a:cubicBezTo>
                  <a:lnTo>
                    <a:pt x="1779559" y="0"/>
                  </a:lnTo>
                  <a:cubicBezTo>
                    <a:pt x="1958450" y="0"/>
                    <a:pt x="2130015" y="71064"/>
                    <a:pt x="2256511" y="197560"/>
                  </a:cubicBezTo>
                  <a:cubicBezTo>
                    <a:pt x="2383006" y="324056"/>
                    <a:pt x="2454071" y="495620"/>
                    <a:pt x="2454071" y="674512"/>
                  </a:cubicBezTo>
                  <a:close/>
                </a:path>
              </a:pathLst>
            </a:custGeom>
            <a:solidFill>
              <a:srgbClr val="FFC9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4071" cy="1387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916" y="881046"/>
            <a:ext cx="902299" cy="902299"/>
          </a:xfrm>
          <a:custGeom>
            <a:avLst/>
            <a:gdLst/>
            <a:ahLst/>
            <a:cxnLst/>
            <a:rect r="r" b="b" t="t" l="l"/>
            <a:pathLst>
              <a:path h="902299" w="902299">
                <a:moveTo>
                  <a:pt x="0" y="0"/>
                </a:moveTo>
                <a:lnTo>
                  <a:pt x="902299" y="0"/>
                </a:lnTo>
                <a:lnTo>
                  <a:pt x="902299" y="902299"/>
                </a:lnTo>
                <a:lnTo>
                  <a:pt x="0" y="90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3964" y="759317"/>
            <a:ext cx="476717" cy="94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6"/>
              </a:lnSpc>
              <a:spcBef>
                <a:spcPct val="0"/>
              </a:spcBef>
            </a:pPr>
            <a:r>
              <a:rPr lang="en-US" sz="4997">
                <a:solidFill>
                  <a:srgbClr val="F88888"/>
                </a:solidFill>
                <a:latin typeface="Handyman"/>
                <a:ea typeface="Handyman"/>
                <a:cs typeface="Handyman"/>
                <a:sym typeface="Handyman"/>
              </a:rPr>
              <a:t>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8945" y="704850"/>
            <a:ext cx="9670110" cy="1554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49"/>
              </a:lnSpc>
              <a:spcBef>
                <a:spcPct val="0"/>
              </a:spcBef>
            </a:pPr>
            <a:r>
              <a:rPr lang="en-US" sz="8249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Nota: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80681" y="4258475"/>
            <a:ext cx="13326637" cy="499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44"/>
              </a:lnSpc>
              <a:spcBef>
                <a:spcPct val="0"/>
              </a:spcBef>
            </a:pPr>
            <a:r>
              <a:rPr lang="en-US" sz="7031">
                <a:solidFill>
                  <a:srgbClr val="A6A6A6"/>
                </a:solidFill>
                <a:latin typeface="Handyman"/>
                <a:ea typeface="Handyman"/>
                <a:cs typeface="Handyman"/>
                <a:sym typeface="Handyman"/>
              </a:rPr>
              <a:t>O serviço de proteção por Barulho e o de chacaolhar o telefone funcionam mesmo com a tela bloqueada!</a:t>
            </a:r>
          </a:p>
        </p:txBody>
      </p:sp>
    </p:spTree>
  </p:cSld>
  <p:clrMapOvr>
    <a:masterClrMapping/>
  </p:clrMapOvr>
  <p:transition spd="slow">
    <p:push dir="l"/>
  </p:transition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449" y="669078"/>
            <a:ext cx="2412630" cy="1326234"/>
            <a:chOff x="0" y="0"/>
            <a:chExt cx="2454071" cy="1349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071" cy="1349024"/>
            </a:xfrm>
            <a:custGeom>
              <a:avLst/>
              <a:gdLst/>
              <a:ahLst/>
              <a:cxnLst/>
              <a:rect r="r" b="b" t="t" l="l"/>
              <a:pathLst>
                <a:path h="1349024" w="2454071">
                  <a:moveTo>
                    <a:pt x="2454071" y="674512"/>
                  </a:moveTo>
                  <a:lnTo>
                    <a:pt x="2454071" y="674512"/>
                  </a:lnTo>
                  <a:cubicBezTo>
                    <a:pt x="2454071" y="1047035"/>
                    <a:pt x="2152081" y="1349024"/>
                    <a:pt x="1779559" y="1349024"/>
                  </a:cubicBezTo>
                  <a:lnTo>
                    <a:pt x="674512" y="1349024"/>
                  </a:lnTo>
                  <a:cubicBezTo>
                    <a:pt x="301989" y="1349024"/>
                    <a:pt x="0" y="1047035"/>
                    <a:pt x="0" y="674512"/>
                  </a:cubicBezTo>
                  <a:lnTo>
                    <a:pt x="0" y="674512"/>
                  </a:lnTo>
                  <a:cubicBezTo>
                    <a:pt x="0" y="301989"/>
                    <a:pt x="301989" y="0"/>
                    <a:pt x="674512" y="0"/>
                  </a:cubicBezTo>
                  <a:lnTo>
                    <a:pt x="1779559" y="0"/>
                  </a:lnTo>
                  <a:cubicBezTo>
                    <a:pt x="1958450" y="0"/>
                    <a:pt x="2130015" y="71064"/>
                    <a:pt x="2256511" y="197560"/>
                  </a:cubicBezTo>
                  <a:cubicBezTo>
                    <a:pt x="2383006" y="324056"/>
                    <a:pt x="2454071" y="495620"/>
                    <a:pt x="2454071" y="674512"/>
                  </a:cubicBezTo>
                  <a:close/>
                </a:path>
              </a:pathLst>
            </a:custGeom>
            <a:solidFill>
              <a:srgbClr val="FFC9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4071" cy="1387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916" y="881046"/>
            <a:ext cx="902299" cy="902299"/>
          </a:xfrm>
          <a:custGeom>
            <a:avLst/>
            <a:gdLst/>
            <a:ahLst/>
            <a:cxnLst/>
            <a:rect r="r" b="b" t="t" l="l"/>
            <a:pathLst>
              <a:path h="902299" w="902299">
                <a:moveTo>
                  <a:pt x="0" y="0"/>
                </a:moveTo>
                <a:lnTo>
                  <a:pt x="902299" y="0"/>
                </a:lnTo>
                <a:lnTo>
                  <a:pt x="902299" y="902299"/>
                </a:lnTo>
                <a:lnTo>
                  <a:pt x="0" y="90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3964" y="759317"/>
            <a:ext cx="476717" cy="94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6"/>
              </a:lnSpc>
              <a:spcBef>
                <a:spcPct val="0"/>
              </a:spcBef>
            </a:pPr>
            <a:r>
              <a:rPr lang="en-US" sz="4997">
                <a:solidFill>
                  <a:srgbClr val="F88888"/>
                </a:solidFill>
                <a:latin typeface="Handyman"/>
                <a:ea typeface="Handyman"/>
                <a:cs typeface="Handyman"/>
                <a:sym typeface="Handyman"/>
              </a:rPr>
              <a:t>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1815507"/>
            <a:ext cx="19471325" cy="6017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256"/>
              </a:lnSpc>
              <a:spcBef>
                <a:spcPct val="0"/>
              </a:spcBef>
            </a:pPr>
            <a:r>
              <a:rPr lang="en-US" sz="16611">
                <a:solidFill>
                  <a:srgbClr val="000000"/>
                </a:solidFill>
                <a:latin typeface="Handyman"/>
                <a:ea typeface="Handyman"/>
                <a:cs typeface="Handyman"/>
                <a:sym typeface="Handyman"/>
              </a:rPr>
              <a:t>Obrigado por ler/assistir!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DAHLg1kW87U</dc:identifier>
  <dcterms:modified xsi:type="dcterms:W3CDTF">2011-08-01T06:04:30Z</dcterms:modified>
  <cp:revision>1</cp:revision>
  <dc:title>Apresentação do projeto</dc:title>
</cp:coreProperties>
</file>